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9" r:id="rId7"/>
    <p:sldId id="300" r:id="rId8"/>
    <p:sldId id="301" r:id="rId9"/>
    <p:sldId id="302" r:id="rId10"/>
    <p:sldId id="261" r:id="rId11"/>
    <p:sldId id="268" r:id="rId12"/>
    <p:sldId id="265" r:id="rId13"/>
    <p:sldId id="262" r:id="rId14"/>
    <p:sldId id="263" r:id="rId15"/>
    <p:sldId id="264" r:id="rId16"/>
    <p:sldId id="266" r:id="rId17"/>
    <p:sldId id="267" r:id="rId18"/>
    <p:sldId id="270" r:id="rId19"/>
    <p:sldId id="269" r:id="rId20"/>
    <p:sldId id="274" r:id="rId21"/>
    <p:sldId id="275" r:id="rId22"/>
    <p:sldId id="276" r:id="rId23"/>
    <p:sldId id="272" r:id="rId24"/>
    <p:sldId id="294" r:id="rId25"/>
    <p:sldId id="277" r:id="rId26"/>
    <p:sldId id="303" r:id="rId27"/>
    <p:sldId id="297" r:id="rId28"/>
    <p:sldId id="298" r:id="rId29"/>
    <p:sldId id="278" r:id="rId30"/>
  </p:sldIdLst>
  <p:sldSz cx="9753600" cy="7315200"/>
  <p:notesSz cx="6858000" cy="9144000"/>
  <p:embeddedFontLst>
    <p:embeddedFont>
      <p:font typeface="Arial MT Pro" panose="020B0604020202020204" charset="0"/>
      <p:regular r:id="rId32"/>
    </p:embeddedFont>
    <p:embeddedFont>
      <p:font typeface="Times New Roman MT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0458" autoAdjust="0"/>
  </p:normalViewPr>
  <p:slideViewPr>
    <p:cSldViewPr>
      <p:cViewPr>
        <p:scale>
          <a:sx n="75" d="100"/>
          <a:sy n="75" d="100"/>
        </p:scale>
        <p:origin x="1517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Literature Survey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0ED30E-9BB7-2945-8E67-38EC3B69034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Implementation</a:t>
          </a:r>
        </a:p>
      </dgm:t>
    </dgm:pt>
    <dgm:pt modelId="{CCFA8DD9-517C-4C48-9ACE-EAEC7B4B1D8D}" type="par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81D7FD-E2E0-0241-80C7-1BF3EEF3518C}" type="sib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352C0E-9228-1D41-9AC7-630454862AA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Testing</a:t>
          </a:r>
        </a:p>
      </dgm:t>
    </dgm:pt>
    <dgm:pt modelId="{BB03014B-614B-4E4D-B179-22BF96D1FDA5}" type="par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AC5C65-A520-AE49-8D76-EE23E4A07C4A}" type="sib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1E4A29-F563-D34A-A9F7-27833A2BC30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Document Submission</a:t>
          </a:r>
        </a:p>
      </dgm:t>
    </dgm:pt>
    <dgm:pt modelId="{B9E7D4BF-66C0-D046-BA68-7E24F4AB0843}" type="par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ED735E-B5D2-C749-867E-EB96611C0B8B}" type="sib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12C06CF-58B4-8F4A-A1C3-18737522BAA5}">
      <dgm:prSet phldrT="[Text]" custT="1"/>
      <dgm:spPr/>
      <dgm:t>
        <a:bodyPr/>
        <a:lstStyle/>
        <a:p>
          <a:r>
            <a:rPr lang="en-US" sz="1100" dirty="0">
              <a:solidFill>
                <a:schemeClr val="tx1"/>
              </a:solidFill>
            </a:rPr>
            <a:t>August – October 1</a:t>
          </a:r>
          <a:r>
            <a:rPr lang="en-US" sz="1100" baseline="30000" dirty="0">
              <a:solidFill>
                <a:schemeClr val="tx1"/>
              </a:solidFill>
            </a:rPr>
            <a:t>st</a:t>
          </a:r>
          <a:r>
            <a:rPr lang="en-US" sz="1100" dirty="0">
              <a:solidFill>
                <a:schemeClr val="tx1"/>
              </a:solidFill>
            </a:rPr>
            <a:t> week (Halfway Implementation)</a:t>
          </a:r>
        </a:p>
      </dgm:t>
    </dgm:pt>
    <dgm:pt modelId="{00A2F76A-F4C8-F042-BC58-5B28B1FEF030}" type="par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A6ECC7-ED92-634B-B481-4D7D62B796B5}" type="sib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61BE11-3B98-534C-8389-3D511BB432FF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2</a:t>
          </a:r>
          <a:r>
            <a:rPr lang="en-US" sz="1000" baseline="30000" dirty="0">
              <a:solidFill>
                <a:schemeClr val="tx1"/>
              </a:solidFill>
            </a:rPr>
            <a:t>nd</a:t>
          </a:r>
          <a:r>
            <a:rPr lang="en-US" sz="1000" dirty="0">
              <a:solidFill>
                <a:schemeClr val="tx1"/>
              </a:solidFill>
            </a:rPr>
            <a:t> week of November </a:t>
          </a:r>
        </a:p>
      </dgm:t>
    </dgm:pt>
    <dgm:pt modelId="{53F8C2F9-90C5-F04A-B13E-59A7DBEEB722}" type="par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FC13B1-0710-8745-A251-B44B9B630299}" type="sib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C01FBF-0839-B840-AA40-B5D4B5EF9464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As per guidance</a:t>
          </a:r>
        </a:p>
      </dgm:t>
    </dgm:pt>
    <dgm:pt modelId="{4292C26E-910E-F242-B4EA-85C15677A931}" type="par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CE79F6D-8C8B-134E-870B-A3814A161031}" type="sib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B4761A-8722-154A-9A4E-6B2E8309550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Abstract 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6CE777-E645-594F-9F72-31FA50915471}">
      <dgm:prSet phldrT="[Text]" custT="1"/>
      <dgm:spPr/>
      <dgm:t>
        <a:bodyPr/>
        <a:lstStyle/>
        <a:p>
          <a:r>
            <a:rPr lang="en-US" sz="1000" dirty="0">
              <a:solidFill>
                <a:schemeClr val="tx1"/>
              </a:solidFill>
            </a:rPr>
            <a:t>21/07/2026</a:t>
          </a:r>
        </a:p>
      </dgm:t>
    </dgm:pt>
    <dgm:pt modelId="{A3FA10DA-B8BC-6B42-A66B-27F9CED77F23}" type="par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4EEB12-0851-6B4F-BF84-33083DA26F4B}" type="sib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A627FEB-5C4C-4C51-8A75-FEFCA4466D7B}">
      <dgm:prSet phldrT="[Text]" custT="1"/>
      <dgm:spPr/>
      <dgm:t>
        <a:bodyPr/>
        <a:lstStyle/>
        <a:p>
          <a:r>
            <a:rPr lang="en-US" sz="1050" dirty="0">
              <a:solidFill>
                <a:schemeClr val="tx1"/>
              </a:solidFill>
            </a:rPr>
            <a:t>11/08/2026</a:t>
          </a:r>
        </a:p>
      </dgm:t>
    </dgm:pt>
    <dgm:pt modelId="{312DFEE4-A0BE-4287-98A9-69EE828C53A8}" type="parTrans" cxnId="{8716AEE2-5EF1-42C9-B2C6-5BB2852185DF}">
      <dgm:prSet/>
      <dgm:spPr/>
      <dgm:t>
        <a:bodyPr/>
        <a:lstStyle/>
        <a:p>
          <a:endParaRPr lang="en-US"/>
        </a:p>
      </dgm:t>
    </dgm:pt>
    <dgm:pt modelId="{C867BD04-E42D-4E36-9651-FF055F4AF5F0}" type="sibTrans" cxnId="{8716AEE2-5EF1-42C9-B2C6-5BB2852185DF}">
      <dgm:prSet/>
      <dgm:spPr/>
      <dgm:t>
        <a:bodyPr/>
        <a:lstStyle/>
        <a:p>
          <a:endParaRPr lang="en-US"/>
        </a:p>
      </dgm:t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4"/>
      <dgm:spPr/>
    </dgm:pt>
    <dgm:pt modelId="{1A27501D-E342-BE40-9448-5C65451E51A0}" type="pres">
      <dgm:prSet presAssocID="{26B4761A-8722-154A-9A4E-6B2E8309550C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13263DF5-F771-E44D-A3A6-7359AB5A694B}" type="pres">
      <dgm:prSet presAssocID="{26B4761A-8722-154A-9A4E-6B2E8309550C}" presName="ChildText" presStyleLbl="revTx" presStyleIdx="0" presStyleCnt="5" custScaleX="199197" custLinFactNeighborX="55604" custLinFactNeighborY="-1554">
        <dgm:presLayoutVars>
          <dgm:chMax val="0"/>
          <dgm:chPref val="0"/>
          <dgm:bulletEnabled val="1"/>
        </dgm:presLayoutVars>
      </dgm:prSet>
      <dgm:spPr/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4"/>
      <dgm:spPr/>
    </dgm:pt>
    <dgm:pt modelId="{7176A5BC-3282-044F-8AE1-17BEE6013828}" type="pres">
      <dgm:prSet presAssocID="{16F9E631-8BA3-154F-A6E6-07CA57FBC2DB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849E87F9-77C2-E148-A125-B75B32BAE82F}" type="pres">
      <dgm:prSet presAssocID="{16F9E631-8BA3-154F-A6E6-07CA57FBC2DB}" presName="ChildText" presStyleLbl="revTx" presStyleIdx="1" presStyleCnt="5" custScaleX="244962" custLinFactNeighborX="71475" custLinFactNeighborY="-1554">
        <dgm:presLayoutVars>
          <dgm:chMax val="0"/>
          <dgm:chPref val="0"/>
          <dgm:bulletEnabled val="1"/>
        </dgm:presLayoutVars>
      </dgm:prSet>
      <dgm:spPr/>
    </dgm:pt>
    <dgm:pt modelId="{A7334212-A42F-5947-B178-28EE2431D98C}" type="pres">
      <dgm:prSet presAssocID="{40437896-D1C0-9744-812A-639F6C127825}" presName="sibTrans" presStyleCnt="0"/>
      <dgm:spPr/>
    </dgm:pt>
    <dgm:pt modelId="{9B1BB91C-DFAA-BB42-8883-6C779B3E0CC7}" type="pres">
      <dgm:prSet presAssocID="{180ED30E-9BB7-2945-8E67-38EC3B69034A}" presName="composite" presStyleCnt="0"/>
      <dgm:spPr/>
    </dgm:pt>
    <dgm:pt modelId="{97925E51-E8AA-DC48-BFEB-51206266AB1D}" type="pres">
      <dgm:prSet presAssocID="{180ED30E-9BB7-2945-8E67-38EC3B69034A}" presName="bentUpArrow1" presStyleLbl="alignImgPlace1" presStyleIdx="2" presStyleCnt="4"/>
      <dgm:spPr/>
    </dgm:pt>
    <dgm:pt modelId="{8D80E448-C06F-8440-B08E-C700B7FCCC29}" type="pres">
      <dgm:prSet presAssocID="{180ED30E-9BB7-2945-8E67-38EC3B69034A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7F2F534D-82F4-5443-8CF7-5BBA47CF0517}" type="pres">
      <dgm:prSet presAssocID="{180ED30E-9BB7-2945-8E67-38EC3B69034A}" presName="ChildText" presStyleLbl="revTx" presStyleIdx="2" presStyleCnt="5" custScaleX="216934" custLinFactNeighborX="66825">
        <dgm:presLayoutVars>
          <dgm:chMax val="0"/>
          <dgm:chPref val="0"/>
          <dgm:bulletEnabled val="1"/>
        </dgm:presLayoutVars>
      </dgm:prSet>
      <dgm:spPr/>
    </dgm:pt>
    <dgm:pt modelId="{CD6671F9-E0CD-EF49-94DC-C96CAC8CC7E3}" type="pres">
      <dgm:prSet presAssocID="{9581D7FD-E2E0-0241-80C7-1BF3EEF3518C}" presName="sibTrans" presStyleCnt="0"/>
      <dgm:spPr/>
    </dgm:pt>
    <dgm:pt modelId="{E13DFC65-0620-5546-9284-95854B643695}" type="pres">
      <dgm:prSet presAssocID="{44352C0E-9228-1D41-9AC7-630454862AAB}" presName="composite" presStyleCnt="0"/>
      <dgm:spPr/>
    </dgm:pt>
    <dgm:pt modelId="{7EA63742-38C6-7343-AA79-52C3D9CCAB0D}" type="pres">
      <dgm:prSet presAssocID="{44352C0E-9228-1D41-9AC7-630454862AAB}" presName="bentUpArrow1" presStyleLbl="alignImgPlace1" presStyleIdx="3" presStyleCnt="4"/>
      <dgm:spPr/>
    </dgm:pt>
    <dgm:pt modelId="{2642E532-D17B-8549-B299-BABD4A6DF310}" type="pres">
      <dgm:prSet presAssocID="{44352C0E-9228-1D41-9AC7-630454862AAB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4D72B732-04CC-5F4B-8E9C-09245727D3B9}" type="pres">
      <dgm:prSet presAssocID="{44352C0E-9228-1D41-9AC7-630454862AAB}" presName="ChildText" presStyleLbl="revTx" presStyleIdx="3" presStyleCnt="5" custScaleX="210506" custLinFactNeighborX="54588">
        <dgm:presLayoutVars>
          <dgm:chMax val="0"/>
          <dgm:chPref val="0"/>
          <dgm:bulletEnabled val="1"/>
        </dgm:presLayoutVars>
      </dgm:prSet>
      <dgm:spPr/>
    </dgm:pt>
    <dgm:pt modelId="{6EA532CE-6739-A24B-AAAE-6A1691A35034}" type="pres">
      <dgm:prSet presAssocID="{D2AC5C65-A520-AE49-8D76-EE23E4A07C4A}" presName="sibTrans" presStyleCnt="0"/>
      <dgm:spPr/>
    </dgm:pt>
    <dgm:pt modelId="{658BC9F3-2A00-F547-8C78-511B7194FAEB}" type="pres">
      <dgm:prSet presAssocID="{251E4A29-F563-D34A-A9F7-27833A2BC30D}" presName="composite" presStyleCnt="0"/>
      <dgm:spPr/>
    </dgm:pt>
    <dgm:pt modelId="{9CCCECD5-8ED0-AC43-9710-1DD092099D67}" type="pres">
      <dgm:prSet presAssocID="{251E4A29-F563-D34A-A9F7-27833A2BC30D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D3853491-2B6C-1449-B71D-8247E1F629BF}" type="pres">
      <dgm:prSet presAssocID="{251E4A29-F563-D34A-A9F7-27833A2BC30D}" presName="FinalChildText" presStyleLbl="revTx" presStyleIdx="4" presStyleCnt="5" custScaleX="147605" custLinFactNeighborX="24471" custLinFactNeighborY="1210">
        <dgm:presLayoutVars>
          <dgm:chMax val="0"/>
          <dgm:chPref val="0"/>
          <dgm:bulletEnabled val="1"/>
        </dgm:presLayoutVars>
      </dgm:prSet>
      <dgm:spPr/>
    </dgm:pt>
  </dgm:ptLst>
  <dgm:cxnLst>
    <dgm:cxn modelId="{1CB6C709-502E-8E44-80CB-B4138F9C85B8}" type="presOf" srcId="{CB6CE777-E645-594F-9F72-31FA50915471}" destId="{13263DF5-F771-E44D-A3A6-7359AB5A694B}" srcOrd="0" destOrd="0" presId="urn:microsoft.com/office/officeart/2005/8/layout/StepDownProcess"/>
    <dgm:cxn modelId="{C4FEA40D-24EF-084F-959C-D30F2BA028D3}" type="presOf" srcId="{26B4761A-8722-154A-9A4E-6B2E8309550C}" destId="{1A27501D-E342-BE40-9448-5C65451E51A0}" srcOrd="0" destOrd="0" presId="urn:microsoft.com/office/officeart/2005/8/layout/StepDownProcess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75B1AC24-2247-418E-917B-87CFE3A11370}" type="presOf" srcId="{CA627FEB-5C4C-4C51-8A75-FEFCA4466D7B}" destId="{849E87F9-77C2-E148-A125-B75B32BAE82F}" srcOrd="0" destOrd="0" presId="urn:microsoft.com/office/officeart/2005/8/layout/StepDownProcess"/>
    <dgm:cxn modelId="{9AF40E27-2800-9B4C-8D69-CAB8B8A8A099}" type="presOf" srcId="{251E4A29-F563-D34A-A9F7-27833A2BC30D}" destId="{9CCCECD5-8ED0-AC43-9710-1DD092099D67}" srcOrd="0" destOrd="0" presId="urn:microsoft.com/office/officeart/2005/8/layout/StepDownProcess"/>
    <dgm:cxn modelId="{3038282E-24E0-754A-9BCA-5EB4B0881EBE}" type="presOf" srcId="{16F9E631-8BA3-154F-A6E6-07CA57FBC2DB}" destId="{7176A5BC-3282-044F-8AE1-17BEE6013828}" srcOrd="0" destOrd="0" presId="urn:microsoft.com/office/officeart/2005/8/layout/StepDownProcess"/>
    <dgm:cxn modelId="{7F3F2935-1376-434A-B6E9-CEA12E0D559A}" srcId="{44352C0E-9228-1D41-9AC7-630454862AAB}" destId="{B761BE11-3B98-534C-8389-3D511BB432FF}" srcOrd="0" destOrd="0" parTransId="{53F8C2F9-90C5-F04A-B13E-59A7DBEEB722}" sibTransId="{1CFC13B1-0710-8745-A251-B44B9B630299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23FA6D3C-5F88-8E47-BDA9-BDE6C1BC6D58}" type="presOf" srcId="{712C06CF-58B4-8F4A-A1C3-18737522BAA5}" destId="{7F2F534D-82F4-5443-8CF7-5BBA47CF0517}" srcOrd="0" destOrd="0" presId="urn:microsoft.com/office/officeart/2005/8/layout/StepDownProcess"/>
    <dgm:cxn modelId="{63981E6F-3BAE-44DB-B56D-A083004F0014}" type="presOf" srcId="{05C01FBF-0839-B840-AA40-B5D4B5EF9464}" destId="{D3853491-2B6C-1449-B71D-8247E1F629BF}" srcOrd="0" destOrd="0" presId="urn:microsoft.com/office/officeart/2005/8/layout/StepDownProcess"/>
    <dgm:cxn modelId="{016D9485-956C-624D-A592-DDA4E4AA6CC5}" srcId="{92AF2611-4B58-ED43-AC9F-B952F610F406}" destId="{44352C0E-9228-1D41-9AC7-630454862AAB}" srcOrd="3" destOrd="0" parTransId="{BB03014B-614B-4E4D-B179-22BF96D1FDA5}" sibTransId="{D2AC5C65-A520-AE49-8D76-EE23E4A07C4A}"/>
    <dgm:cxn modelId="{E336EE89-5EC2-AE4C-81C9-2EBDE6E482D4}" srcId="{92AF2611-4B58-ED43-AC9F-B952F610F406}" destId="{251E4A29-F563-D34A-A9F7-27833A2BC30D}" srcOrd="4" destOrd="0" parTransId="{B9E7D4BF-66C0-D046-BA68-7E24F4AB0843}" sibTransId="{57ED735E-B5D2-C749-867E-EB96611C0B8B}"/>
    <dgm:cxn modelId="{15010B8E-8FC6-034B-A7AD-F331240F7012}" srcId="{92AF2611-4B58-ED43-AC9F-B952F610F406}" destId="{180ED30E-9BB7-2945-8E67-38EC3B69034A}" srcOrd="2" destOrd="0" parTransId="{CCFA8DD9-517C-4C48-9ACE-EAEC7B4B1D8D}" sibTransId="{9581D7FD-E2E0-0241-80C7-1BF3EEF3518C}"/>
    <dgm:cxn modelId="{570398A5-7B9B-684E-836B-828C67CE95B5}" srcId="{251E4A29-F563-D34A-A9F7-27833A2BC30D}" destId="{05C01FBF-0839-B840-AA40-B5D4B5EF9464}" srcOrd="0" destOrd="0" parTransId="{4292C26E-910E-F242-B4EA-85C15677A931}" sibTransId="{9CE79F6D-8C8B-134E-870B-A3814A161031}"/>
    <dgm:cxn modelId="{552A83B2-FDAE-E143-BB66-928925B322B7}" srcId="{180ED30E-9BB7-2945-8E67-38EC3B69034A}" destId="{712C06CF-58B4-8F4A-A1C3-18737522BAA5}" srcOrd="0" destOrd="0" parTransId="{00A2F76A-F4C8-F042-BC58-5B28B1FEF030}" sibTransId="{F7A6ECC7-ED92-634B-B481-4D7D62B796B5}"/>
    <dgm:cxn modelId="{84262DD1-54DB-8D42-9C16-B543B3BB3374}" srcId="{26B4761A-8722-154A-9A4E-6B2E8309550C}" destId="{CB6CE777-E645-594F-9F72-31FA50915471}" srcOrd="0" destOrd="0" parTransId="{A3FA10DA-B8BC-6B42-A66B-27F9CED77F23}" sibTransId="{F64EEB12-0851-6B4F-BF84-33083DA26F4B}"/>
    <dgm:cxn modelId="{EA665ADD-A5EF-844A-8B63-2D7ECC046504}" type="presOf" srcId="{44352C0E-9228-1D41-9AC7-630454862AAB}" destId="{2642E532-D17B-8549-B299-BABD4A6DF310}" srcOrd="0" destOrd="0" presId="urn:microsoft.com/office/officeart/2005/8/layout/StepDownProcess"/>
    <dgm:cxn modelId="{8716AEE2-5EF1-42C9-B2C6-5BB2852185DF}" srcId="{16F9E631-8BA3-154F-A6E6-07CA57FBC2DB}" destId="{CA627FEB-5C4C-4C51-8A75-FEFCA4466D7B}" srcOrd="0" destOrd="0" parTransId="{312DFEE4-A0BE-4287-98A9-69EE828C53A8}" sibTransId="{C867BD04-E42D-4E36-9651-FF055F4AF5F0}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634270FB-D54E-9B40-B519-40B9861B65C3}" type="presOf" srcId="{B761BE11-3B98-534C-8389-3D511BB432FF}" destId="{4D72B732-04CC-5F4B-8E9C-09245727D3B9}" srcOrd="0" destOrd="0" presId="urn:microsoft.com/office/officeart/2005/8/layout/StepDownProcess"/>
    <dgm:cxn modelId="{553CD0FD-F2FB-3140-8551-691D85FC1D01}" type="presOf" srcId="{180ED30E-9BB7-2945-8E67-38EC3B69034A}" destId="{8D80E448-C06F-8440-B08E-C700B7FCCC29}" srcOrd="0" destOrd="0" presId="urn:microsoft.com/office/officeart/2005/8/layout/StepDownProcess"/>
    <dgm:cxn modelId="{CAA58818-923B-6242-9847-11CD1A086880}" type="presParOf" srcId="{49E2B0A6-6F15-3D4D-BF88-D0B2483CB55B}" destId="{E975EE4B-D42E-E84D-8A4A-2906A98D9890}" srcOrd="0" destOrd="0" presId="urn:microsoft.com/office/officeart/2005/8/layout/StepDownProcess"/>
    <dgm:cxn modelId="{D0DD2577-622D-2948-8D96-837600176068}" type="presParOf" srcId="{E975EE4B-D42E-E84D-8A4A-2906A98D9890}" destId="{FC8198D2-B811-F543-848D-08253013A363}" srcOrd="0" destOrd="0" presId="urn:microsoft.com/office/officeart/2005/8/layout/StepDownProcess"/>
    <dgm:cxn modelId="{8328243B-B6DB-724C-8C50-F098B7AAF6D6}" type="presParOf" srcId="{E975EE4B-D42E-E84D-8A4A-2906A98D9890}" destId="{1A27501D-E342-BE40-9448-5C65451E51A0}" srcOrd="1" destOrd="0" presId="urn:microsoft.com/office/officeart/2005/8/layout/StepDownProcess"/>
    <dgm:cxn modelId="{A0EEA3E4-28F5-9347-B752-8F465E17DB0E}" type="presParOf" srcId="{E975EE4B-D42E-E84D-8A4A-2906A98D9890}" destId="{13263DF5-F771-E44D-A3A6-7359AB5A694B}" srcOrd="2" destOrd="0" presId="urn:microsoft.com/office/officeart/2005/8/layout/StepDownProcess"/>
    <dgm:cxn modelId="{47F02AFF-9AD0-A041-B89E-95A3ABC44E39}" type="presParOf" srcId="{49E2B0A6-6F15-3D4D-BF88-D0B2483CB55B}" destId="{1405AD88-5681-5740-8B0F-785D5C4C54E3}" srcOrd="1" destOrd="0" presId="urn:microsoft.com/office/officeart/2005/8/layout/StepDownProcess"/>
    <dgm:cxn modelId="{CC26F27A-2F31-7B4F-A3D5-F58113FB0928}" type="presParOf" srcId="{49E2B0A6-6F15-3D4D-BF88-D0B2483CB55B}" destId="{876C9C10-85C7-794D-BECA-7E6B3040BD5B}" srcOrd="2" destOrd="0" presId="urn:microsoft.com/office/officeart/2005/8/layout/StepDownProcess"/>
    <dgm:cxn modelId="{D59FA65B-1A0F-1E47-B691-93027AEC90BA}" type="presParOf" srcId="{876C9C10-85C7-794D-BECA-7E6B3040BD5B}" destId="{7249723C-E4C0-8E4E-9876-FECBD8EB4088}" srcOrd="0" destOrd="0" presId="urn:microsoft.com/office/officeart/2005/8/layout/StepDownProcess"/>
    <dgm:cxn modelId="{51EB45CC-B96D-5D43-AF1B-84E3B2B8AED1}" type="presParOf" srcId="{876C9C10-85C7-794D-BECA-7E6B3040BD5B}" destId="{7176A5BC-3282-044F-8AE1-17BEE6013828}" srcOrd="1" destOrd="0" presId="urn:microsoft.com/office/officeart/2005/8/layout/StepDownProcess"/>
    <dgm:cxn modelId="{5CEB0EC2-0F54-B24C-B1F0-0B003EF1C5A2}" type="presParOf" srcId="{876C9C10-85C7-794D-BECA-7E6B3040BD5B}" destId="{849E87F9-77C2-E148-A125-B75B32BAE82F}" srcOrd="2" destOrd="0" presId="urn:microsoft.com/office/officeart/2005/8/layout/StepDownProcess"/>
    <dgm:cxn modelId="{D6478E3B-05EF-9646-A75F-F4ED66F49E38}" type="presParOf" srcId="{49E2B0A6-6F15-3D4D-BF88-D0B2483CB55B}" destId="{A7334212-A42F-5947-B178-28EE2431D98C}" srcOrd="3" destOrd="0" presId="urn:microsoft.com/office/officeart/2005/8/layout/StepDownProcess"/>
    <dgm:cxn modelId="{B7ED08C4-F562-F343-AE8C-1411DA99F4EB}" type="presParOf" srcId="{49E2B0A6-6F15-3D4D-BF88-D0B2483CB55B}" destId="{9B1BB91C-DFAA-BB42-8883-6C779B3E0CC7}" srcOrd="4" destOrd="0" presId="urn:microsoft.com/office/officeart/2005/8/layout/StepDownProcess"/>
    <dgm:cxn modelId="{A5A50A0E-B79B-C34C-ADC7-C80B5C746A06}" type="presParOf" srcId="{9B1BB91C-DFAA-BB42-8883-6C779B3E0CC7}" destId="{97925E51-E8AA-DC48-BFEB-51206266AB1D}" srcOrd="0" destOrd="0" presId="urn:microsoft.com/office/officeart/2005/8/layout/StepDownProcess"/>
    <dgm:cxn modelId="{7C19BC84-CC29-EF4A-BC81-B1BE7CAADD4B}" type="presParOf" srcId="{9B1BB91C-DFAA-BB42-8883-6C779B3E0CC7}" destId="{8D80E448-C06F-8440-B08E-C700B7FCCC29}" srcOrd="1" destOrd="0" presId="urn:microsoft.com/office/officeart/2005/8/layout/StepDownProcess"/>
    <dgm:cxn modelId="{4C51BF22-07FD-FA4A-B14F-9FA0B702E5DB}" type="presParOf" srcId="{9B1BB91C-DFAA-BB42-8883-6C779B3E0CC7}" destId="{7F2F534D-82F4-5443-8CF7-5BBA47CF0517}" srcOrd="2" destOrd="0" presId="urn:microsoft.com/office/officeart/2005/8/layout/StepDownProcess"/>
    <dgm:cxn modelId="{729F0557-5384-6B4B-86BF-CDDE5C1D202F}" type="presParOf" srcId="{49E2B0A6-6F15-3D4D-BF88-D0B2483CB55B}" destId="{CD6671F9-E0CD-EF49-94DC-C96CAC8CC7E3}" srcOrd="5" destOrd="0" presId="urn:microsoft.com/office/officeart/2005/8/layout/StepDownProcess"/>
    <dgm:cxn modelId="{36E3AD21-65D7-B24C-B4D3-B7520133DB1C}" type="presParOf" srcId="{49E2B0A6-6F15-3D4D-BF88-D0B2483CB55B}" destId="{E13DFC65-0620-5546-9284-95854B643695}" srcOrd="6" destOrd="0" presId="urn:microsoft.com/office/officeart/2005/8/layout/StepDownProcess"/>
    <dgm:cxn modelId="{DD62FE2A-BC28-3E4D-BD4E-F24534EEBE0F}" type="presParOf" srcId="{E13DFC65-0620-5546-9284-95854B643695}" destId="{7EA63742-38C6-7343-AA79-52C3D9CCAB0D}" srcOrd="0" destOrd="0" presId="urn:microsoft.com/office/officeart/2005/8/layout/StepDownProcess"/>
    <dgm:cxn modelId="{75CB6DD7-E609-FF41-BFDA-AA78B1AF772C}" type="presParOf" srcId="{E13DFC65-0620-5546-9284-95854B643695}" destId="{2642E532-D17B-8549-B299-BABD4A6DF310}" srcOrd="1" destOrd="0" presId="urn:microsoft.com/office/officeart/2005/8/layout/StepDownProcess"/>
    <dgm:cxn modelId="{2D895992-0610-7847-8717-588D1860CD72}" type="presParOf" srcId="{E13DFC65-0620-5546-9284-95854B643695}" destId="{4D72B732-04CC-5F4B-8E9C-09245727D3B9}" srcOrd="2" destOrd="0" presId="urn:microsoft.com/office/officeart/2005/8/layout/StepDownProcess"/>
    <dgm:cxn modelId="{317597CB-5F05-5C46-8E98-608B8CB7DEA7}" type="presParOf" srcId="{49E2B0A6-6F15-3D4D-BF88-D0B2483CB55B}" destId="{6EA532CE-6739-A24B-AAAE-6A1691A35034}" srcOrd="7" destOrd="0" presId="urn:microsoft.com/office/officeart/2005/8/layout/StepDownProcess"/>
    <dgm:cxn modelId="{07B25F14-FD1D-C644-863E-76AE9B1DE37A}" type="presParOf" srcId="{49E2B0A6-6F15-3D4D-BF88-D0B2483CB55B}" destId="{658BC9F3-2A00-F547-8C78-511B7194FAEB}" srcOrd="8" destOrd="0" presId="urn:microsoft.com/office/officeart/2005/8/layout/StepDownProcess"/>
    <dgm:cxn modelId="{B023C484-9503-1F4F-8378-A4C3B820ACFA}" type="presParOf" srcId="{658BC9F3-2A00-F547-8C78-511B7194FAEB}" destId="{9CCCECD5-8ED0-AC43-9710-1DD092099D67}" srcOrd="0" destOrd="0" presId="urn:microsoft.com/office/officeart/2005/8/layout/StepDownProcess"/>
    <dgm:cxn modelId="{223E57CC-DC7E-483C-B9ED-63C99E899EA7}" type="presParOf" srcId="{658BC9F3-2A00-F547-8C78-511B7194FAEB}" destId="{D3853491-2B6C-1449-B71D-8247E1F629B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021447" y="895234"/>
          <a:ext cx="779108" cy="8869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815031" y="31576"/>
          <a:ext cx="1311560" cy="91805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Abstract Submission</a:t>
          </a:r>
        </a:p>
      </dsp:txBody>
      <dsp:txXfrm>
        <a:off x="859855" y="76400"/>
        <a:ext cx="1221912" cy="828402"/>
      </dsp:txXfrm>
    </dsp:sp>
    <dsp:sp modelId="{13263DF5-F771-E44D-A3A6-7359AB5A694B}">
      <dsp:nvSpPr>
        <dsp:cNvPr id="0" name=""/>
        <dsp:cNvSpPr/>
      </dsp:nvSpPr>
      <dsp:spPr>
        <a:xfrm>
          <a:off x="2183878" y="107602"/>
          <a:ext cx="1900148" cy="74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chemeClr val="tx1"/>
              </a:solidFill>
            </a:rPr>
            <a:t>21/07/2026</a:t>
          </a:r>
        </a:p>
      </dsp:txBody>
      <dsp:txXfrm>
        <a:off x="2183878" y="107602"/>
        <a:ext cx="1900148" cy="742008"/>
      </dsp:txXfrm>
    </dsp:sp>
    <dsp:sp modelId="{7249723C-E4C0-8E4E-9876-FECBD8EB4088}">
      <dsp:nvSpPr>
        <dsp:cNvPr id="0" name=""/>
        <dsp:cNvSpPr/>
      </dsp:nvSpPr>
      <dsp:spPr>
        <a:xfrm rot="5400000">
          <a:off x="2335969" y="1926507"/>
          <a:ext cx="779108" cy="8869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2129552" y="1062849"/>
          <a:ext cx="1311560" cy="91805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Literature Survey</a:t>
          </a:r>
        </a:p>
      </dsp:txBody>
      <dsp:txXfrm>
        <a:off x="2174376" y="1107673"/>
        <a:ext cx="1221912" cy="828402"/>
      </dsp:txXfrm>
    </dsp:sp>
    <dsp:sp modelId="{849E87F9-77C2-E148-A125-B75B32BAE82F}">
      <dsp:nvSpPr>
        <dsp:cNvPr id="0" name=""/>
        <dsp:cNvSpPr/>
      </dsp:nvSpPr>
      <dsp:spPr>
        <a:xfrm>
          <a:off x="3431517" y="1138875"/>
          <a:ext cx="2336703" cy="74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kern="1200" dirty="0">
              <a:solidFill>
                <a:schemeClr val="tx1"/>
              </a:solidFill>
            </a:rPr>
            <a:t>11/08/2026</a:t>
          </a:r>
        </a:p>
      </dsp:txBody>
      <dsp:txXfrm>
        <a:off x="3431517" y="1138875"/>
        <a:ext cx="2336703" cy="742008"/>
      </dsp:txXfrm>
    </dsp:sp>
    <dsp:sp modelId="{97925E51-E8AA-DC48-BFEB-51206266AB1D}">
      <dsp:nvSpPr>
        <dsp:cNvPr id="0" name=""/>
        <dsp:cNvSpPr/>
      </dsp:nvSpPr>
      <dsp:spPr>
        <a:xfrm rot="5400000">
          <a:off x="3650491" y="2957780"/>
          <a:ext cx="779108" cy="8869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E448-C06F-8440-B08E-C700B7FCCC29}">
      <dsp:nvSpPr>
        <dsp:cNvPr id="0" name=""/>
        <dsp:cNvSpPr/>
      </dsp:nvSpPr>
      <dsp:spPr>
        <a:xfrm>
          <a:off x="3444074" y="2094122"/>
          <a:ext cx="1311560" cy="91805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Implementation</a:t>
          </a:r>
        </a:p>
      </dsp:txBody>
      <dsp:txXfrm>
        <a:off x="3488898" y="2138946"/>
        <a:ext cx="1221912" cy="828402"/>
      </dsp:txXfrm>
    </dsp:sp>
    <dsp:sp modelId="{7F2F534D-82F4-5443-8CF7-5BBA47CF0517}">
      <dsp:nvSpPr>
        <dsp:cNvPr id="0" name=""/>
        <dsp:cNvSpPr/>
      </dsp:nvSpPr>
      <dsp:spPr>
        <a:xfrm>
          <a:off x="4835363" y="2181679"/>
          <a:ext cx="2069342" cy="74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chemeClr val="tx1"/>
              </a:solidFill>
            </a:rPr>
            <a:t>August – October 1</a:t>
          </a:r>
          <a:r>
            <a:rPr lang="en-US" sz="1100" kern="1200" baseline="30000" dirty="0">
              <a:solidFill>
                <a:schemeClr val="tx1"/>
              </a:solidFill>
            </a:rPr>
            <a:t>st</a:t>
          </a:r>
          <a:r>
            <a:rPr lang="en-US" sz="1100" kern="1200" dirty="0">
              <a:solidFill>
                <a:schemeClr val="tx1"/>
              </a:solidFill>
            </a:rPr>
            <a:t> week (Halfway Implementation)</a:t>
          </a:r>
        </a:p>
      </dsp:txBody>
      <dsp:txXfrm>
        <a:off x="4835363" y="2181679"/>
        <a:ext cx="2069342" cy="742008"/>
      </dsp:txXfrm>
    </dsp:sp>
    <dsp:sp modelId="{7EA63742-38C6-7343-AA79-52C3D9CCAB0D}">
      <dsp:nvSpPr>
        <dsp:cNvPr id="0" name=""/>
        <dsp:cNvSpPr/>
      </dsp:nvSpPr>
      <dsp:spPr>
        <a:xfrm rot="5400000">
          <a:off x="4965013" y="3989053"/>
          <a:ext cx="779108" cy="8869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2E532-D17B-8549-B299-BABD4A6DF310}">
      <dsp:nvSpPr>
        <dsp:cNvPr id="0" name=""/>
        <dsp:cNvSpPr/>
      </dsp:nvSpPr>
      <dsp:spPr>
        <a:xfrm>
          <a:off x="4758596" y="3125395"/>
          <a:ext cx="1311560" cy="91805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Testing</a:t>
          </a:r>
        </a:p>
      </dsp:txBody>
      <dsp:txXfrm>
        <a:off x="4803420" y="3170219"/>
        <a:ext cx="1221912" cy="828402"/>
      </dsp:txXfrm>
    </dsp:sp>
    <dsp:sp modelId="{4D72B732-04CC-5F4B-8E9C-09245727D3B9}">
      <dsp:nvSpPr>
        <dsp:cNvPr id="0" name=""/>
        <dsp:cNvSpPr/>
      </dsp:nvSpPr>
      <dsp:spPr>
        <a:xfrm>
          <a:off x="6063814" y="3212952"/>
          <a:ext cx="2008025" cy="74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chemeClr val="tx1"/>
              </a:solidFill>
            </a:rPr>
            <a:t>2</a:t>
          </a:r>
          <a:r>
            <a:rPr lang="en-US" sz="1000" kern="1200" baseline="30000" dirty="0">
              <a:solidFill>
                <a:schemeClr val="tx1"/>
              </a:solidFill>
            </a:rPr>
            <a:t>nd</a:t>
          </a:r>
          <a:r>
            <a:rPr lang="en-US" sz="1000" kern="1200" dirty="0">
              <a:solidFill>
                <a:schemeClr val="tx1"/>
              </a:solidFill>
            </a:rPr>
            <a:t> week of November </a:t>
          </a:r>
        </a:p>
      </dsp:txBody>
      <dsp:txXfrm>
        <a:off x="6063814" y="3212952"/>
        <a:ext cx="2008025" cy="742008"/>
      </dsp:txXfrm>
    </dsp:sp>
    <dsp:sp modelId="{9CCCECD5-8ED0-AC43-9710-1DD092099D67}">
      <dsp:nvSpPr>
        <dsp:cNvPr id="0" name=""/>
        <dsp:cNvSpPr/>
      </dsp:nvSpPr>
      <dsp:spPr>
        <a:xfrm>
          <a:off x="6073118" y="4156668"/>
          <a:ext cx="1311560" cy="91805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1"/>
              </a:solidFill>
            </a:rPr>
            <a:t>Document Submission</a:t>
          </a:r>
        </a:p>
      </dsp:txBody>
      <dsp:txXfrm>
        <a:off x="6117942" y="4201492"/>
        <a:ext cx="1221912" cy="828402"/>
      </dsp:txXfrm>
    </dsp:sp>
    <dsp:sp modelId="{D3853491-2B6C-1449-B71D-8247E1F629BF}">
      <dsp:nvSpPr>
        <dsp:cNvPr id="0" name=""/>
        <dsp:cNvSpPr/>
      </dsp:nvSpPr>
      <dsp:spPr>
        <a:xfrm>
          <a:off x="7391056" y="4253203"/>
          <a:ext cx="1408010" cy="74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>
              <a:solidFill>
                <a:schemeClr val="tx1"/>
              </a:solidFill>
            </a:rPr>
            <a:t>As per guidance</a:t>
          </a:r>
        </a:p>
      </dsp:txBody>
      <dsp:txXfrm>
        <a:off x="7391056" y="4253203"/>
        <a:ext cx="1408010" cy="742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860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27826271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406400" y="1219200"/>
            <a:ext cx="9022080" cy="552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8767" rIns="48767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987"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81280"/>
            <a:ext cx="844974" cy="97536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349248" y="325120"/>
            <a:ext cx="7380225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8767" rIns="48767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sz="1920"/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1056640" y="1463040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75360" y="2519680"/>
            <a:ext cx="7802880" cy="401489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7512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82BA5A97-13BE-DC37-E47E-3BFCFCE4FB16}"/>
              </a:ext>
            </a:extLst>
          </p:cNvPr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C4785FF8-467B-E9AD-E231-C6D98D619456}"/>
                </a:ext>
              </a:extLst>
            </p:cNvPr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D7503AFD-2F94-411B-787B-1435B723EC42}"/>
                </a:ext>
              </a:extLst>
            </p:cNvPr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72160" y="1393998"/>
            <a:ext cx="8209280" cy="2040102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347" dirty="0">
                <a:sym typeface="Times New Roman"/>
              </a:rPr>
              <a:t>Predictive Expert Offloading for Mixture-of-Experts LLMs </a:t>
            </a:r>
            <a:br>
              <a:rPr lang="en-IN" sz="4267" b="1" dirty="0">
                <a:sym typeface="Times New Roman"/>
              </a:rPr>
            </a:br>
            <a:br>
              <a:rPr lang="en-GB" sz="2773" dirty="0"/>
            </a:br>
            <a:r>
              <a:rPr lang="en-GB" sz="1920" dirty="0"/>
              <a:t>23AID498 Project Phase 1  – Review 2 Presentation</a:t>
            </a:r>
            <a:br>
              <a:rPr lang="en-GB" sz="2773" dirty="0"/>
            </a:br>
            <a:br>
              <a:rPr lang="en-GB" sz="2773" dirty="0"/>
            </a:br>
            <a:r>
              <a:rPr lang="en-GB" sz="1920" dirty="0"/>
              <a:t>Team ID: 23UG099			Panel No.: 17</a:t>
            </a:r>
            <a:endParaRPr sz="2773" dirty="0"/>
          </a:p>
        </p:txBody>
      </p:sp>
      <p:sp>
        <p:nvSpPr>
          <p:cNvPr id="132" name="Rectangle"/>
          <p:cNvSpPr/>
          <p:nvPr/>
        </p:nvSpPr>
        <p:spPr>
          <a:xfrm>
            <a:off x="1381760" y="325120"/>
            <a:ext cx="7315200" cy="487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8767" rIns="48767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 sz="2987"/>
          </a:p>
        </p:txBody>
      </p:sp>
      <p:graphicFrame>
        <p:nvGraphicFramePr>
          <p:cNvPr id="137" name="Table"/>
          <p:cNvGraphicFramePr/>
          <p:nvPr/>
        </p:nvGraphicFramePr>
        <p:xfrm>
          <a:off x="619002" y="3576287"/>
          <a:ext cx="8515598" cy="1613304"/>
        </p:xfrm>
        <a:graphic>
          <a:graphicData uri="http://schemas.openxmlformats.org/drawingml/2006/table">
            <a:tbl>
              <a:tblPr/>
              <a:tblGrid>
                <a:gridCol w="821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2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36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9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9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9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9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9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</a:t>
                      </a:r>
                      <a:r>
                        <a:rPr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EN.U4AID23011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Buvan Subbaiah KH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AIDS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BL.EN.U4AID23036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Ananthapadmanabhan Nair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AIDS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BL.EN.U4AID23052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Tejas Raja Bhatt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7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AIDS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86014" y="6164870"/>
            <a:ext cx="98551" cy="328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8767" tIns="48767" rIns="48767" bIns="48767" numCol="1" spcCol="38100" rtlCol="0" anchor="t">
            <a:spAutoFit/>
          </a:bodyPr>
          <a:lstStyle/>
          <a:p>
            <a:pPr defTabSz="975390" hangingPunct="0"/>
            <a:endParaRPr lang="en-IN" sz="149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5872" y="5883895"/>
            <a:ext cx="5841979" cy="6894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8767" tIns="48767" rIns="48767" bIns="48767" numCol="1" spcCol="38100" rtlCol="0" anchor="t">
            <a:spAutoFit/>
          </a:bodyPr>
          <a:lstStyle/>
          <a:p>
            <a:pPr defTabSz="975390" hangingPunct="0"/>
            <a:r>
              <a:rPr lang="en-US" sz="1920" b="1" dirty="0"/>
              <a:t>Project Guide: Dr. Ritesh Raj</a:t>
            </a:r>
          </a:p>
          <a:p>
            <a:pPr defTabSz="975390" hangingPunct="0"/>
            <a:r>
              <a:rPr lang="en-US" sz="1920" b="1" dirty="0"/>
              <a:t>                           Assistant Professor – School of AI  </a:t>
            </a:r>
            <a:endParaRPr lang="en-IN" sz="1920" b="1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70376B02-1503-C687-8330-503A753CD32B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5" name="Freeform 6" descr="image.png">
              <a:extLst>
                <a:ext uri="{FF2B5EF4-FFF2-40B4-BE49-F238E27FC236}">
                  <a16:creationId xmlns:a16="http://schemas.microsoft.com/office/drawing/2014/main" id="{C8266F14-DA5D-3D89-76BD-86B372218FA4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07027" y="416772"/>
            <a:ext cx="138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89280" y="1402503"/>
            <a:ext cx="8304107" cy="770255"/>
            <a:chOff x="0" y="0"/>
            <a:chExt cx="11072142" cy="1027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72142" cy="1027006"/>
            </a:xfrm>
            <a:custGeom>
              <a:avLst/>
              <a:gdLst/>
              <a:ahLst/>
              <a:cxnLst/>
              <a:rect l="l" t="t" r="r" b="b"/>
              <a:pathLst>
                <a:path w="11072142" h="1027006">
                  <a:moveTo>
                    <a:pt x="0" y="0"/>
                  </a:moveTo>
                  <a:lnTo>
                    <a:pt x="11072142" y="0"/>
                  </a:lnTo>
                  <a:lnTo>
                    <a:pt x="11072142" y="1027006"/>
                  </a:lnTo>
                  <a:lnTo>
                    <a:pt x="0" y="10270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1072142" cy="1103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Approval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1760" y="325120"/>
            <a:ext cx="7315200" cy="487680"/>
            <a:chOff x="0" y="0"/>
            <a:chExt cx="9753600" cy="650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650240"/>
            </a:xfrm>
            <a:custGeom>
              <a:avLst/>
              <a:gdLst/>
              <a:ahLst/>
              <a:cxnLst/>
              <a:rect l="l" t="t" r="r" b="b"/>
              <a:pathLst>
                <a:path w="9753600" h="650240">
                  <a:moveTo>
                    <a:pt x="0" y="0"/>
                  </a:moveTo>
                  <a:lnTo>
                    <a:pt x="9753600" y="0"/>
                  </a:lnTo>
                  <a:lnTo>
                    <a:pt x="97536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1524" y="-1524"/>
              <a:ext cx="9756648" cy="653288"/>
            </a:xfrm>
            <a:custGeom>
              <a:avLst/>
              <a:gdLst/>
              <a:ahLst/>
              <a:cxnLst/>
              <a:rect l="l" t="t" r="r" b="b"/>
              <a:pathLst>
                <a:path w="9756648" h="653288">
                  <a:moveTo>
                    <a:pt x="1524" y="0"/>
                  </a:moveTo>
                  <a:lnTo>
                    <a:pt x="9755124" y="0"/>
                  </a:lnTo>
                  <a:cubicBezTo>
                    <a:pt x="9756013" y="0"/>
                    <a:pt x="9756648" y="762"/>
                    <a:pt x="9756648" y="1524"/>
                  </a:cubicBezTo>
                  <a:lnTo>
                    <a:pt x="9756648" y="651764"/>
                  </a:lnTo>
                  <a:cubicBezTo>
                    <a:pt x="9756648" y="652653"/>
                    <a:pt x="9755886" y="653288"/>
                    <a:pt x="9755124" y="653288"/>
                  </a:cubicBezTo>
                  <a:lnTo>
                    <a:pt x="1524" y="653288"/>
                  </a:lnTo>
                  <a:cubicBezTo>
                    <a:pt x="635" y="653288"/>
                    <a:pt x="0" y="652526"/>
                    <a:pt x="0" y="651764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1764"/>
                  </a:lnTo>
                  <a:lnTo>
                    <a:pt x="1524" y="651764"/>
                  </a:lnTo>
                  <a:lnTo>
                    <a:pt x="1524" y="650240"/>
                  </a:lnTo>
                  <a:lnTo>
                    <a:pt x="9755124" y="650240"/>
                  </a:lnTo>
                  <a:lnTo>
                    <a:pt x="9755124" y="651764"/>
                  </a:lnTo>
                  <a:lnTo>
                    <a:pt x="9753600" y="651764"/>
                  </a:lnTo>
                  <a:lnTo>
                    <a:pt x="9753600" y="1524"/>
                  </a:lnTo>
                  <a:lnTo>
                    <a:pt x="9755124" y="1524"/>
                  </a:lnTo>
                  <a:lnTo>
                    <a:pt x="9755124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4019F48-617B-B60C-6160-056C6050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992" y="2365021"/>
            <a:ext cx="5429615" cy="35476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07027" y="416772"/>
            <a:ext cx="138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3</a:t>
            </a:r>
          </a:p>
        </p:txBody>
      </p:sp>
      <p:sp>
        <p:nvSpPr>
          <p:cNvPr id="9" name="Freeform 9"/>
          <p:cNvSpPr/>
          <p:nvPr/>
        </p:nvSpPr>
        <p:spPr>
          <a:xfrm>
            <a:off x="589280" y="1402503"/>
            <a:ext cx="8304107" cy="770254"/>
          </a:xfrm>
          <a:custGeom>
            <a:avLst/>
            <a:gdLst/>
            <a:ahLst/>
            <a:cxnLst/>
            <a:rect l="l" t="t" r="r" b="b"/>
            <a:pathLst>
              <a:path w="11072142" h="1027006">
                <a:moveTo>
                  <a:pt x="0" y="0"/>
                </a:moveTo>
                <a:lnTo>
                  <a:pt x="11072142" y="0"/>
                </a:lnTo>
                <a:lnTo>
                  <a:pt x="11072142" y="1027006"/>
                </a:lnTo>
                <a:lnTo>
                  <a:pt x="0" y="102700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7818120" cy="397763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Mixture-of-Experts (</a:t>
            </a:r>
            <a:r>
              <a:rPr dirty="0" err="1"/>
              <a:t>MoE</a:t>
            </a:r>
            <a:r>
              <a:rPr dirty="0"/>
              <a:t>) models contain many expert networks, but the router activates only a small subset for each token.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Our project uses the real </a:t>
            </a:r>
            <a:r>
              <a:rPr dirty="0" err="1"/>
              <a:t>allenai</a:t>
            </a:r>
            <a:r>
              <a:rPr dirty="0"/>
              <a:t>/OLMoE-1B-7B-0924 model to study predictive expert offloading under constrained GPU memory.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The native router is instrumented to collect layer-wise expert activation traces from WikiText-103, GSM8K and MBPP.</a:t>
            </a:r>
          </a:p>
          <a:p>
            <a:pPr>
              <a:spcAft>
                <a:spcPts val="600"/>
              </a:spcAft>
              <a:defRPr sz="19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Core pipeline: observe routing → identify temporal structure → predict future experts → prefetch → measure cache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606" y="1426045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Introduction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07027" y="416772"/>
            <a:ext cx="138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" y="2118889"/>
            <a:ext cx="7909560" cy="313316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</a:t>
            </a:r>
            <a:r>
              <a:rPr dirty="0" err="1"/>
              <a:t>OLMoE</a:t>
            </a:r>
            <a:r>
              <a:rPr dirty="0"/>
              <a:t> has 16 layers and 64 experts per layer, giving 1,024 layer-specific expert locations.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Only 8 experts are selected at each layer for each token, so expert access changes over time.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A constrained 4 GB laptop GPU cannot be treated as if every layer-specific expert is always resident.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Reactive caching waits for a miss; fetching an expert from CPU or disk can be expensive.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Research question: can routing behavior be predicted early enough to prefetch useful experts?</a:t>
            </a:r>
            <a:r>
              <a:rPr lang="en-US" dirty="0"/>
              <a:t> Can we move from Reactive to Predictive?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22020" y="1400662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Problem Definition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07027" y="416772"/>
            <a:ext cx="138668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65960"/>
            <a:ext cx="7818120" cy="313316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Collect reliable layer-aware expert activation traces from real </a:t>
            </a:r>
            <a:r>
              <a:rPr dirty="0" err="1"/>
              <a:t>OLMoE</a:t>
            </a:r>
            <a:r>
              <a:rPr dirty="0"/>
              <a:t> inference.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Measure temporal locality and determine whether recent routing contains predictive information.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Implement and compare History, layer-aware Transition and Selective prediction strategies.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Connect predictions to a GPU/CPU/Disk cache model and measure precision, coverage, disk fetches and modeled latency.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Extend toward EAM-based prediction, a published-method-inspired baseline, an adaptive policy and live </a:t>
            </a:r>
            <a:r>
              <a:rPr dirty="0" err="1"/>
              <a:t>OLMoE</a:t>
            </a:r>
            <a:r>
              <a:rPr dirty="0"/>
              <a:t> integration.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96112" y="1293059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Objective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219200" y="391623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413" dirty="0"/>
              <a:t>Literature Survey</a:t>
            </a:r>
            <a:endParaRPr sz="3413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0555AD-2513-94DB-0D0F-115A8244F34F}"/>
              </a:ext>
            </a:extLst>
          </p:cNvPr>
          <p:cNvGraphicFramePr>
            <a:graphicFrameLocks noGrp="1"/>
          </p:cNvGraphicFramePr>
          <p:nvPr/>
        </p:nvGraphicFramePr>
        <p:xfrm>
          <a:off x="842904" y="1372730"/>
          <a:ext cx="8125177" cy="516674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1118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274912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949039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136786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123322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723331">
                <a:tc>
                  <a:txBody>
                    <a:bodyPr/>
                    <a:lstStyle/>
                    <a:p>
                      <a:pPr algn="ctr"/>
                      <a:r>
                        <a:rPr lang="en-IN" sz="1300" dirty="0" err="1"/>
                        <a:t>S.No</a:t>
                      </a:r>
                      <a:r>
                        <a:rPr lang="en-IN" sz="1300" dirty="0"/>
                        <a:t>.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Authors name(s)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Full title of the paper with year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Inference from the paper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Open Problem (For proposed work)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167278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Eliseev, A.; Mazur, D.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Fast Inference of Mixture-of-Experts Language Models with Offloading (2023)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Introduces expert offloading with LRU caching and speculative loading to reduce GPU-memory pressure during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inference.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Extend reactive/speculative loading with explicit routing-history prediction and asynchronous prefetching.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Xue, L.; Fu, Y.; Lu, Z.; Mai, L.; Marina, M.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-Infinity: Offloading-Efficient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Model Serving (2024)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Uses expert activation history, caching and prefetching to improve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serving under memory constraints.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Compare a lightweight laptop-oriented predictor against trace-based prefetching approaches.</a:t>
                      </a:r>
                      <a:b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</a:b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(n-gram frequency predictor vs lightweight model)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  <a:tr h="127646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3. 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Muennighoff</a:t>
                      </a: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, N., et al.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OLMoE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: Open Mixture-of-Experts Language Models (2025)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Presents the open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OLMoE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model family and analyzes routing and expert specialization.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Use OLMoE-1B-7B as the target model and investigate whether its routing traces are predictable across workloads.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2155352172"/>
                  </a:ext>
                </a:extLst>
              </a:tr>
            </a:tbl>
          </a:graphicData>
        </a:graphic>
      </p:graphicFrame>
      <p:grpSp>
        <p:nvGrpSpPr>
          <p:cNvPr id="3" name="Group 5">
            <a:extLst>
              <a:ext uri="{FF2B5EF4-FFF2-40B4-BE49-F238E27FC236}">
                <a16:creationId xmlns:a16="http://schemas.microsoft.com/office/drawing/2014/main" id="{E3926C2B-957D-7E52-B9E9-046E1B56647C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4" name="Freeform 6" descr="image.png">
              <a:extLst>
                <a:ext uri="{FF2B5EF4-FFF2-40B4-BE49-F238E27FC236}">
                  <a16:creationId xmlns:a16="http://schemas.microsoft.com/office/drawing/2014/main" id="{1A2876CB-2F23-B815-21D9-2C680CA83A0A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757A-0B14-3B4C-06C3-0F950ABC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C4242B54-56FB-49BE-F8BE-2B018DF4C7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B19E7B09-A439-B78D-45D2-ED4C98C79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391623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413" dirty="0"/>
              <a:t>Literature Survey</a:t>
            </a:r>
            <a:endParaRPr sz="3413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29DCC78-A7AE-5344-4B54-23FC5CF591BE}"/>
              </a:ext>
            </a:extLst>
          </p:cNvPr>
          <p:cNvGraphicFramePr>
            <a:graphicFrameLocks noGrp="1"/>
          </p:cNvGraphicFramePr>
          <p:nvPr/>
        </p:nvGraphicFramePr>
        <p:xfrm>
          <a:off x="1086744" y="1372729"/>
          <a:ext cx="7748883" cy="39583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11426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242311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832332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037827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024987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829456">
                <a:tc>
                  <a:txBody>
                    <a:bodyPr/>
                    <a:lstStyle/>
                    <a:p>
                      <a:pPr algn="ctr"/>
                      <a:r>
                        <a:rPr lang="en-IN" sz="1300" dirty="0" err="1"/>
                        <a:t>S.No</a:t>
                      </a:r>
                      <a:r>
                        <a:rPr lang="en-IN" sz="1300" dirty="0"/>
                        <a:t>.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Authors name(s)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Full title of the paper with year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Inference from the paper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Open Problem (For proposed work)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144638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Kamahori, K.; Tang, T.; Gu, Y.; Zhu, K.; Kasikci, B.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Fiddler: CPU-GPU Orchestration for Fast Inference of Mixture-of-Experts Models (2025)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Coordinates CPU and GPU resources to improve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inference when GPU memory is limited.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Build on GPU/CPU orchestration with routing-aware prediction and evaluate additional LAN-based storage.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65811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Song, Y.; Mi, Z.; Xie, H.; Chen, H.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PowerInfer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: Fast Large Language Model Serving with a Consumer-grade GPU (2024)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Demonstrates that large language model inference can be made practical on consumer-grade GPUs by exploiting parameter locality and keeping frequently used components resident.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Apply the consumer-GPU locality idea specifically to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expert residency and investigate whether predicted expert reuse can reduce GPU↔CPU transfer stalls.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</a:tbl>
          </a:graphicData>
        </a:graphic>
      </p:graphicFrame>
      <p:grpSp>
        <p:nvGrpSpPr>
          <p:cNvPr id="3" name="Group 5">
            <a:extLst>
              <a:ext uri="{FF2B5EF4-FFF2-40B4-BE49-F238E27FC236}">
                <a16:creationId xmlns:a16="http://schemas.microsoft.com/office/drawing/2014/main" id="{61630C91-EA62-2207-86CA-6E0F36C6D3E1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4" name="Freeform 6" descr="image.png">
              <a:extLst>
                <a:ext uri="{FF2B5EF4-FFF2-40B4-BE49-F238E27FC236}">
                  <a16:creationId xmlns:a16="http://schemas.microsoft.com/office/drawing/2014/main" id="{96D4BF15-34D5-F8E5-01FE-997B943A7EC2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942610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F5545-F508-1FC9-2579-400BFA33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884BD906-D9FF-C653-99EF-05063882CE5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D1561945-727E-ECB1-49F4-A1EF1D706A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391623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413" dirty="0"/>
              <a:t>Literature Survey</a:t>
            </a:r>
            <a:endParaRPr sz="3413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92DE216-5D51-9491-3E82-63B2B43B8ABB}"/>
              </a:ext>
            </a:extLst>
          </p:cNvPr>
          <p:cNvGraphicFramePr>
            <a:graphicFrameLocks noGrp="1"/>
          </p:cNvGraphicFramePr>
          <p:nvPr/>
        </p:nvGraphicFramePr>
        <p:xfrm>
          <a:off x="1110827" y="1360688"/>
          <a:ext cx="7748883" cy="55412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11426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242311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832332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037827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024987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IN" sz="1300" dirty="0" err="1"/>
                        <a:t>S.No</a:t>
                      </a:r>
                      <a:r>
                        <a:rPr lang="en-IN" sz="1300" dirty="0"/>
                        <a:t>.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Authors name(s)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Full title of the paper with year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Inference from the paper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Open Problem (For proposed work)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165811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nn-NO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Xue, F.; Zheng, Z.; Fu, Y.; Ni, J.; Zheng, Z.; Zhou, W.; You, Y.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OpenMoE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: An Early Effort on Open Mixture-of-Experts Language Models (2024)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Studies open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language models and their expert-routing behavior, providing evidence of specialization and non-uniform expert utilization.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Quantify whether routing patterns are sufficiently predictable across code, math, multilingual, and general workloads to support prefetching.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7.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Dai, D.; Deng, C.; Zhao, C.; et al.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DeepSeekMoE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: Towards Ultimate Expert Specialization in Mixture-of-Experts Language Models (2024)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Investigates fine-grained expert specialization and routing strategies to improve parameter efficiency and expert utilization.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Use routing specialization as a possible source of predictive signal and measure how specialization affects cache hit rate and prefetch accuracy.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  <a:tr h="165811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8.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Dunsche</a:t>
                      </a: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, M.; </a:t>
                      </a:r>
                      <a:r>
                        <a:rPr lang="en-IN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Maehren</a:t>
                      </a: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, M.; </a:t>
                      </a:r>
                      <a:r>
                        <a:rPr lang="en-IN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Erinola</a:t>
                      </a: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, N., et al.</a:t>
                      </a:r>
                    </a:p>
                    <a:p>
                      <a:pPr algn="l"/>
                      <a:endParaRPr lang="en-IN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With Great Power Come Great Side Channels: Statistical Timing Side-Channel Analyses with Bounded Type-1 Errors (2024)</a:t>
                      </a:r>
                    </a:p>
                    <a:p>
                      <a:pPr algn="l"/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Provides statistically rigorous methods for timing side-channel analysis while controlling false-positive errors.</a:t>
                      </a:r>
                    </a:p>
                    <a:p>
                      <a:pPr algn="l"/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Use its statistical perspective when evaluating whether timing traces contain measurable workload information.</a:t>
                      </a:r>
                    </a:p>
                    <a:p>
                      <a:pPr algn="l"/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2302755492"/>
                  </a:ext>
                </a:extLst>
              </a:tr>
            </a:tbl>
          </a:graphicData>
        </a:graphic>
      </p:graphicFrame>
      <p:grpSp>
        <p:nvGrpSpPr>
          <p:cNvPr id="3" name="Group 5">
            <a:extLst>
              <a:ext uri="{FF2B5EF4-FFF2-40B4-BE49-F238E27FC236}">
                <a16:creationId xmlns:a16="http://schemas.microsoft.com/office/drawing/2014/main" id="{062FDDF6-D67C-2F37-5312-D0EF80B4AB3D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4" name="Freeform 6" descr="image.png">
              <a:extLst>
                <a:ext uri="{FF2B5EF4-FFF2-40B4-BE49-F238E27FC236}">
                  <a16:creationId xmlns:a16="http://schemas.microsoft.com/office/drawing/2014/main" id="{05AAC16C-F88F-E858-2E42-BCC93A616600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861817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C1D4-C6B7-6D91-A4D2-FE41D8EE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>
            <a:extLst>
              <a:ext uri="{FF2B5EF4-FFF2-40B4-BE49-F238E27FC236}">
                <a16:creationId xmlns:a16="http://schemas.microsoft.com/office/drawing/2014/main" id="{A2199ECB-8DF3-1861-F1CE-967ADE679D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57" name="Motivation">
            <a:extLst>
              <a:ext uri="{FF2B5EF4-FFF2-40B4-BE49-F238E27FC236}">
                <a16:creationId xmlns:a16="http://schemas.microsoft.com/office/drawing/2014/main" id="{85D187B8-4ACD-F3AF-8D1B-5BE471E60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391623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413" dirty="0"/>
              <a:t>Literature Survey</a:t>
            </a:r>
            <a:endParaRPr sz="3413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DA557A8-C3C8-BF44-60E1-BFB94EA76203}"/>
              </a:ext>
            </a:extLst>
          </p:cNvPr>
          <p:cNvGraphicFramePr>
            <a:graphicFrameLocks noGrp="1"/>
          </p:cNvGraphicFramePr>
          <p:nvPr/>
        </p:nvGraphicFramePr>
        <p:xfrm>
          <a:off x="1086744" y="1360689"/>
          <a:ext cx="7748883" cy="4748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11426">
                  <a:extLst>
                    <a:ext uri="{9D8B030D-6E8A-4147-A177-3AD203B41FA5}">
                      <a16:colId xmlns:a16="http://schemas.microsoft.com/office/drawing/2014/main" val="3359582560"/>
                    </a:ext>
                  </a:extLst>
                </a:gridCol>
                <a:gridCol w="1242311">
                  <a:extLst>
                    <a:ext uri="{9D8B030D-6E8A-4147-A177-3AD203B41FA5}">
                      <a16:colId xmlns:a16="http://schemas.microsoft.com/office/drawing/2014/main" val="246789036"/>
                    </a:ext>
                  </a:extLst>
                </a:gridCol>
                <a:gridCol w="1832332">
                  <a:extLst>
                    <a:ext uri="{9D8B030D-6E8A-4147-A177-3AD203B41FA5}">
                      <a16:colId xmlns:a16="http://schemas.microsoft.com/office/drawing/2014/main" val="2085544661"/>
                    </a:ext>
                  </a:extLst>
                </a:gridCol>
                <a:gridCol w="2037827">
                  <a:extLst>
                    <a:ext uri="{9D8B030D-6E8A-4147-A177-3AD203B41FA5}">
                      <a16:colId xmlns:a16="http://schemas.microsoft.com/office/drawing/2014/main" val="1277987297"/>
                    </a:ext>
                  </a:extLst>
                </a:gridCol>
                <a:gridCol w="2024987">
                  <a:extLst>
                    <a:ext uri="{9D8B030D-6E8A-4147-A177-3AD203B41FA5}">
                      <a16:colId xmlns:a16="http://schemas.microsoft.com/office/drawing/2014/main" val="352969315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IN" sz="1300" dirty="0" err="1"/>
                        <a:t>S.No</a:t>
                      </a:r>
                      <a:r>
                        <a:rPr lang="en-IN" sz="1300" dirty="0"/>
                        <a:t>.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Authors name(s)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Full title of the paper with year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Inference from the paper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dirty="0"/>
                        <a:t>Open Problem (For proposed work)</a:t>
                      </a:r>
                    </a:p>
                  </a:txBody>
                  <a:tcPr marL="97536" marR="97536" marT="48768" marB="48768">
                    <a:solidFill>
                      <a:srgbClr val="489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962150"/>
                  </a:ext>
                </a:extLst>
              </a:tr>
              <a:tr h="165811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9.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Tang, P.; Liu, J.; Hou, X.; Pu, Y.; Heng, P.-A.; Li, C.; Guo, M.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HOBBIT: A Mixed Precision Expert Offloading System for Fast </a:t>
                      </a:r>
                      <a:r>
                        <a:rPr lang="en-US" sz="1300" b="0" dirty="0" err="1">
                          <a:solidFill>
                            <a:srgbClr val="232323"/>
                          </a:solidFill>
                          <a:latin typeface="Aptos"/>
                        </a:rPr>
                        <a:t>MoE</a:t>
                      </a: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 Inference (2024)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Combines mixed-precision expert storage with offloading and caching to reduce memory footprint and expert-transfer overhead.</a:t>
                      </a:r>
                    </a:p>
                    <a:p>
                      <a:pPr algn="just"/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Compare predictive prefetching against mixed-precision/offloading strategies and study the trade-off among expert size, transfer latency, and cache capacity.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877509688"/>
                  </a:ext>
                </a:extLst>
              </a:tr>
              <a:tr h="126796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10.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Borzunov, A.; Baranchuk, D.; Dettmers, T., et al.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Petals: Collaborative Inference and Fine-tuning of Large Models (2023)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Demonstrates collaborative large-model inference by pooling compute and memory resources across networked peers.</a:t>
                      </a: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Motivates the third cache tier: GPU → local CPU/RAM → LAN peer expert storage.</a:t>
                      </a: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3917762837"/>
                  </a:ext>
                </a:extLst>
              </a:tr>
              <a:tr h="126796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11.</a:t>
                      </a:r>
                      <a:endParaRPr lang="en-IN" sz="1300" dirty="0"/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Song, L.; Pang, Z.; Wang, W., et al.</a:t>
                      </a:r>
                    </a:p>
                    <a:p>
                      <a:pPr algn="l"/>
                      <a:endParaRPr lang="da-DK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The Early Bird Catches the Leak: Unveiling Timing Side Channels in LLM Serving Systems (2024)</a:t>
                      </a:r>
                    </a:p>
                    <a:p>
                      <a:pPr algn="l"/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Shows that LLM-serving optimizations and caching can create timing differences that expose information.</a:t>
                      </a:r>
                    </a:p>
                    <a:p>
                      <a:pPr algn="l"/>
                      <a:endParaRPr lang="en-US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323"/>
                          </a:solidFill>
                          <a:latin typeface="Aptos"/>
                        </a:rPr>
                        <a:t>Directly motivates testing whether expert-cache hits/misses reveal query domain or routing behavior.</a:t>
                      </a:r>
                    </a:p>
                    <a:p>
                      <a:pPr algn="l"/>
                      <a:endParaRPr lang="en-IN" sz="1300" b="0" dirty="0">
                        <a:solidFill>
                          <a:srgbClr val="232323"/>
                        </a:solidFill>
                        <a:latin typeface="Aptos"/>
                      </a:endParaRPr>
                    </a:p>
                  </a:txBody>
                  <a:tcPr marL="97536" marR="97536" marT="48768" marB="48768"/>
                </a:tc>
                <a:extLst>
                  <a:ext uri="{0D108BD9-81ED-4DB2-BD59-A6C34878D82A}">
                    <a16:rowId xmlns:a16="http://schemas.microsoft.com/office/drawing/2014/main" val="1629849624"/>
                  </a:ext>
                </a:extLst>
              </a:tr>
            </a:tbl>
          </a:graphicData>
        </a:graphic>
      </p:graphicFrame>
      <p:grpSp>
        <p:nvGrpSpPr>
          <p:cNvPr id="3" name="Group 5">
            <a:extLst>
              <a:ext uri="{FF2B5EF4-FFF2-40B4-BE49-F238E27FC236}">
                <a16:creationId xmlns:a16="http://schemas.microsoft.com/office/drawing/2014/main" id="{F7ED4547-F796-3EEB-9B12-E77BACEC5238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4" name="Freeform 6" descr="image.png">
              <a:extLst>
                <a:ext uri="{FF2B5EF4-FFF2-40B4-BE49-F238E27FC236}">
                  <a16:creationId xmlns:a16="http://schemas.microsoft.com/office/drawing/2014/main" id="{EF3879EE-7ADC-0884-F223-9788E0844D59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880074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40225" y="416772"/>
            <a:ext cx="10547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6</a:t>
            </a:r>
          </a:p>
        </p:txBody>
      </p:sp>
      <p:sp>
        <p:nvSpPr>
          <p:cNvPr id="9" name="Freeform 9"/>
          <p:cNvSpPr/>
          <p:nvPr/>
        </p:nvSpPr>
        <p:spPr>
          <a:xfrm>
            <a:off x="1212427" y="1417871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965960"/>
            <a:ext cx="7818120" cy="396416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Temporal structure means expert activations at nearby time steps are not completely random.</a:t>
            </a:r>
            <a:r>
              <a:rPr lang="en-US" dirty="0"/>
              <a:t> Usage of previous expert information is vital to know about future experts.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A larger lookback window provides more historical opportunities to find reused experts, so locality hit rate rises.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Prediction can reduce lower-tier fetches, but wrong predictions consume cache space and transfer bandwidth.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The problem is therefore a precision–coverage–overhead trade-off, not simply “maximize prediction accuracy”.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The native </a:t>
            </a:r>
            <a:r>
              <a:rPr dirty="0" err="1"/>
              <a:t>OLMoE</a:t>
            </a:r>
            <a:r>
              <a:rPr dirty="0"/>
              <a:t> router remains authoritative; the predictor is an auxiliary prefetch mechanism.</a:t>
            </a:r>
            <a:r>
              <a:rPr lang="en-US" dirty="0"/>
              <a:t> As in, the </a:t>
            </a:r>
            <a:r>
              <a:rPr lang="en-US" dirty="0" err="1"/>
              <a:t>OLMoE</a:t>
            </a:r>
            <a:r>
              <a:rPr lang="en-US" dirty="0"/>
              <a:t> router still makes the real decision about which experts are used. Our predictor does not replace or override the router.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40664" y="1320099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Justification &amp; Significance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EBF8149-0C67-267A-C1C8-A1F87FCDFB9E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>
              <a:extLst>
                <a:ext uri="{FF2B5EF4-FFF2-40B4-BE49-F238E27FC236}">
                  <a16:creationId xmlns:a16="http://schemas.microsoft.com/office/drawing/2014/main" id="{2CDB2341-44EC-30D5-8700-594F838AD2F0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934" y="540597"/>
            <a:ext cx="9160764" cy="636524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1920240" cy="77724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000000"/>
                </a:solidFill>
                <a:latin typeface="Times New Roman MT"/>
              </a:rPr>
              <a:t>Input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28800"/>
            <a:ext cx="1920240" cy="777240"/>
          </a:xfrm>
          <a:prstGeom prst="roundRect">
            <a:avLst/>
          </a:prstGeom>
          <a:solidFill>
            <a:srgbClr val="5B9BD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OLMoE
Transformer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1920240" cy="777240"/>
          </a:xfrm>
          <a:prstGeom prst="roundRect">
            <a:avLst/>
          </a:prstGeom>
          <a:solidFill>
            <a:srgbClr val="B4A7D6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Native Router
Top-8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2212848"/>
            <a:ext cx="21031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09160" y="2212848"/>
            <a:ext cx="21031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88920" y="3154680"/>
            <a:ext cx="1920240" cy="777240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Routing Trace
Collector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794760" y="2606040"/>
            <a:ext cx="2103120" cy="521208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4434840"/>
            <a:ext cx="2057400" cy="822960"/>
          </a:xfrm>
          <a:prstGeom prst="roundRect">
            <a:avLst/>
          </a:prstGeom>
          <a:solidFill>
            <a:srgbClr val="B4DCD2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000000"/>
                </a:solidFill>
                <a:latin typeface="Times New Roman MT"/>
              </a:rPr>
              <a:t>History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434840"/>
            <a:ext cx="2057400" cy="822960"/>
          </a:xfrm>
          <a:prstGeom prst="roundRect">
            <a:avLst/>
          </a:prstGeom>
          <a:solidFill>
            <a:srgbClr val="EA999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lang="en-US" sz="1500" b="1" dirty="0">
                <a:solidFill>
                  <a:srgbClr val="000000"/>
                </a:solidFill>
                <a:latin typeface="Times New Roman MT"/>
              </a:rPr>
              <a:t>Layer-Aware Transition </a:t>
            </a:r>
            <a:endParaRPr sz="1500" b="1" dirty="0">
              <a:solidFill>
                <a:srgbClr val="000000"/>
              </a:solidFill>
              <a:latin typeface="Times New Roman M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0" y="4434840"/>
            <a:ext cx="2057400" cy="822960"/>
          </a:xfrm>
          <a:prstGeom prst="roundRect">
            <a:avLst/>
          </a:prstGeom>
          <a:solidFill>
            <a:srgbClr val="F4B08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Multi-Tier
Cache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874519" y="3959352"/>
            <a:ext cx="1737361" cy="448056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3794760" y="3959352"/>
            <a:ext cx="0" cy="448056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080760"/>
            <a:ext cx="7269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000000"/>
                </a:solidFill>
                <a:latin typeface="Times New Roman MT"/>
              </a:rPr>
              <a:t>The predictor never replaces the </a:t>
            </a:r>
            <a:r>
              <a:rPr sz="1600" b="1" dirty="0" err="1">
                <a:solidFill>
                  <a:srgbClr val="000000"/>
                </a:solidFill>
                <a:latin typeface="Times New Roman MT"/>
              </a:rPr>
              <a:t>OLMoE</a:t>
            </a:r>
            <a:r>
              <a:rPr sz="1600" b="1" dirty="0">
                <a:solidFill>
                  <a:srgbClr val="000000"/>
                </a:solidFill>
                <a:latin typeface="Times New Roman MT"/>
              </a:rPr>
              <a:t> router; it predicts likely future requests for prefetching.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6100" y="1060704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System Architecture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2272C8-ED77-B9AE-39D9-9CA641488EE8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5212080" y="484632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6E4A51-FBD2-F22F-7AAD-2E383AAA5B06}"/>
              </a:ext>
            </a:extLst>
          </p:cNvPr>
          <p:cNvCxnSpPr>
            <a:cxnSpLocks/>
          </p:cNvCxnSpPr>
          <p:nvPr/>
        </p:nvCxnSpPr>
        <p:spPr>
          <a:xfrm>
            <a:off x="1600200" y="5458097"/>
            <a:ext cx="476250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A83D45-6E45-4587-E9B8-10418FE3FE2E}"/>
              </a:ext>
            </a:extLst>
          </p:cNvPr>
          <p:cNvCxnSpPr>
            <a:cxnSpLocks/>
          </p:cNvCxnSpPr>
          <p:nvPr/>
        </p:nvCxnSpPr>
        <p:spPr>
          <a:xfrm flipH="1">
            <a:off x="1600200" y="5226232"/>
            <a:ext cx="2721" cy="26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AC67E-E477-6712-83D9-8B8713D8DCFA}"/>
              </a:ext>
            </a:extLst>
          </p:cNvPr>
          <p:cNvCxnSpPr>
            <a:cxnSpLocks/>
          </p:cNvCxnSpPr>
          <p:nvPr/>
        </p:nvCxnSpPr>
        <p:spPr>
          <a:xfrm flipV="1">
            <a:off x="6362700" y="5257800"/>
            <a:ext cx="0" cy="23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EEED8D7-847B-45EF-941D-08469F8D2F6D}"/>
              </a:ext>
            </a:extLst>
          </p:cNvPr>
          <p:cNvSpPr txBox="1"/>
          <p:nvPr/>
        </p:nvSpPr>
        <p:spPr>
          <a:xfrm>
            <a:off x="1371601" y="5715000"/>
            <a:ext cx="498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 1: System Architecture</a:t>
            </a:r>
            <a:endParaRPr lang="en-IN" sz="1400" i="1" dirty="0"/>
          </a:p>
        </p:txBody>
      </p:sp>
      <p:grpSp>
        <p:nvGrpSpPr>
          <p:cNvPr id="38" name="Group 5">
            <a:extLst>
              <a:ext uri="{FF2B5EF4-FFF2-40B4-BE49-F238E27FC236}">
                <a16:creationId xmlns:a16="http://schemas.microsoft.com/office/drawing/2014/main" id="{A6C07A57-CCD0-7BD0-8C3F-59F94FFC1625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39" name="Freeform 6" descr="image.png">
              <a:extLst>
                <a:ext uri="{FF2B5EF4-FFF2-40B4-BE49-F238E27FC236}">
                  <a16:creationId xmlns:a16="http://schemas.microsoft.com/office/drawing/2014/main" id="{32BB1ED2-1070-873D-ED2C-E77FBC90213D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10388" y="1415141"/>
            <a:ext cx="7816428" cy="960364"/>
          </a:xfrm>
          <a:custGeom>
            <a:avLst/>
            <a:gdLst/>
            <a:ahLst/>
            <a:cxnLst/>
            <a:rect l="l" t="t" r="r" b="b"/>
            <a:pathLst>
              <a:path w="10421903" h="1280485">
                <a:moveTo>
                  <a:pt x="0" y="0"/>
                </a:moveTo>
                <a:lnTo>
                  <a:pt x="10421903" y="0"/>
                </a:lnTo>
                <a:lnTo>
                  <a:pt x="10421903" y="1280485"/>
                </a:lnTo>
                <a:lnTo>
                  <a:pt x="0" y="128048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913075" y="416772"/>
            <a:ext cx="23262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7360920" cy="42062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Python + </a:t>
            </a:r>
            <a:r>
              <a:rPr dirty="0" err="1"/>
              <a:t>PyTorch</a:t>
            </a:r>
            <a:r>
              <a:rPr dirty="0"/>
              <a:t> — </a:t>
            </a:r>
            <a:r>
              <a:rPr dirty="0" err="1"/>
              <a:t>OLMoE</a:t>
            </a:r>
            <a:r>
              <a:rPr dirty="0"/>
              <a:t> inference and routing instrumentation.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Hugging Face Transformers — </a:t>
            </a:r>
            <a:r>
              <a:rPr dirty="0" err="1"/>
              <a:t>OLMoE</a:t>
            </a:r>
            <a:r>
              <a:rPr dirty="0"/>
              <a:t> model/configuration.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CUDA + NVIDIA RTX 3050 Laptop GPU — experimental inference hardware.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NumPy / pandas / scikit-learn — trace processing, splitting and analysis.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Matplotlib — result graphs and report figures.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Git / GitHub — project version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273915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Software/Tools Requirements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68587" y="1203960"/>
            <a:ext cx="7816428" cy="960364"/>
          </a:xfrm>
          <a:custGeom>
            <a:avLst/>
            <a:gdLst/>
            <a:ahLst/>
            <a:cxnLst/>
            <a:rect l="l" t="t" r="r" b="b"/>
            <a:pathLst>
              <a:path w="10421903" h="1280485">
                <a:moveTo>
                  <a:pt x="0" y="0"/>
                </a:moveTo>
                <a:lnTo>
                  <a:pt x="10421903" y="0"/>
                </a:lnTo>
                <a:lnTo>
                  <a:pt x="10421903" y="1280485"/>
                </a:lnTo>
                <a:lnTo>
                  <a:pt x="0" y="128048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913075" y="416772"/>
            <a:ext cx="23262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7726679" cy="34871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</a:t>
            </a:r>
            <a:r>
              <a:rPr lang="en-IN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WikiText-103 — general language modelling(https://huggingface.co/datasets/mattdangerw/wikitext-103-raw 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lang="en-IN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 — diverse text workload (https://huggingface.co/datasets/allenai/c4)
MBPP / </a:t>
            </a:r>
            <a:r>
              <a:rPr lang="en-IN" dirty="0" err="1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</a:t>
            </a:r>
            <a:r>
              <a:rPr lang="en-IN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code workload (https://huggingface.co/datasets/Muennighoff/mbpp)
GSM8K — math/reasoning workload (https://huggingface.co/datasets/madrylab/gsm8k-platinum)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Initial strategy/cache comparisons use 10 samples per workload for fast, controlled experiments.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Expanded trace set contains 100 samples per workload and is split 80/20 by sample ID for leakage-safe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561" y="1249680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Data Set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80512" y="1203960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9040250" y="416772"/>
            <a:ext cx="10544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874519"/>
            <a:ext cx="2148840" cy="86868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WikiText-103
100 samples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1874519"/>
            <a:ext cx="2148840" cy="868680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GSM8K
100 samples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1874519"/>
            <a:ext cx="2148840" cy="868680"/>
          </a:xfrm>
          <a:prstGeom prst="roundRect">
            <a:avLst/>
          </a:prstGeom>
          <a:solidFill>
            <a:srgbClr val="B4A7D6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MBPP
100 samples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83080" y="2743200"/>
            <a:ext cx="0" cy="50292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114800" y="2743200"/>
            <a:ext cx="0" cy="50292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46520" y="2743200"/>
            <a:ext cx="0" cy="50292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668780" y="3223261"/>
            <a:ext cx="4892040" cy="914400"/>
          </a:xfrm>
          <a:prstGeom prst="roundRect">
            <a:avLst/>
          </a:prstGeom>
          <a:solidFill>
            <a:srgbClr val="5B9BD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Times New Roman MT"/>
              </a:rPr>
              <a:t>OLMoE native router instrumentation
16 layers × top-8 routing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0" y="4137661"/>
            <a:ext cx="0" cy="45720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417320" y="4617720"/>
            <a:ext cx="6172200" cy="868680"/>
          </a:xfrm>
          <a:prstGeom prst="roundRect">
            <a:avLst/>
          </a:prstGeom>
          <a:solidFill>
            <a:srgbClr val="B4DCD2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Layer-aware JSONL routing traces
(layer_id, token_position, selected_experts, routing_weights)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256" y="6090920"/>
            <a:ext cx="7269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000000"/>
                </a:solidFill>
                <a:latin typeface="Times New Roman MT"/>
              </a:rPr>
              <a:t>Each token produces 16 routing records and 128 expert selections.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576" y="1303020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5142F-ED1A-BF5B-BE1E-EBD04BD263AD}"/>
              </a:ext>
            </a:extLst>
          </p:cNvPr>
          <p:cNvSpPr txBox="1"/>
          <p:nvPr/>
        </p:nvSpPr>
        <p:spPr>
          <a:xfrm>
            <a:off x="2834640" y="5621635"/>
            <a:ext cx="466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 2: Dataset segregation and processing</a:t>
            </a:r>
            <a:endParaRPr lang="en-IN" sz="14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C1DD5-43BA-F05C-9C83-C68209AA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80512" y="1134368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9040250" y="416772"/>
            <a:ext cx="105445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9</a:t>
            </a:r>
          </a:p>
        </p:txBody>
      </p:sp>
      <p:pic>
        <p:nvPicPr>
          <p:cNvPr id="23" name="Picture 22" descr="07_trace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3840480" cy="23042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26280" y="1874519"/>
            <a:ext cx="3657600" cy="210211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Validation checks:</a:t>
            </a:r>
          </a:p>
          <a:p>
            <a:pPr lvl="1">
              <a:spcAft>
                <a:spcPts val="300"/>
              </a:spcAft>
              <a:defRPr sz="14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100 unique sample IDs per workload</a:t>
            </a:r>
          </a:p>
          <a:p>
            <a:pPr lvl="1">
              <a:spcAft>
                <a:spcPts val="300"/>
              </a:spcAft>
              <a:defRPr sz="14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all 16 layers present for each token</a:t>
            </a:r>
          </a:p>
          <a:p>
            <a:pPr lvl="1">
              <a:spcAft>
                <a:spcPts val="300"/>
              </a:spcAft>
              <a:defRPr sz="14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exactly 8 experts </a:t>
            </a:r>
          </a:p>
          <a:p>
            <a:pPr lvl="1">
              <a:spcAft>
                <a:spcPts val="300"/>
              </a:spcAft>
              <a:defRPr sz="1400">
                <a:solidFill>
                  <a:srgbClr val="000000"/>
                </a:solidFill>
                <a:latin typeface="Times New Roman MT"/>
              </a:defRPr>
            </a:pPr>
            <a:r>
              <a:rPr lang="en-US" dirty="0"/>
              <a:t>E</a:t>
            </a:r>
            <a:r>
              <a:rPr dirty="0"/>
              <a:t>xpert IDs 0–63 and no duplicate expert IDs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80/20 train/test split is performed on sample IDs, preventing trace leakage.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362" y="1211916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Data 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77ADA-F19F-682D-4FD8-EF2DA1D71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671" y="4516171"/>
            <a:ext cx="4816257" cy="1348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17AD18-56B5-B15C-2CC6-2F84F7011B7B}"/>
              </a:ext>
            </a:extLst>
          </p:cNvPr>
          <p:cNvSpPr txBox="1"/>
          <p:nvPr/>
        </p:nvSpPr>
        <p:spPr>
          <a:xfrm>
            <a:off x="894362" y="4009317"/>
            <a:ext cx="464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Fig 3: Dataset validation and Expert selections</a:t>
            </a:r>
            <a:endParaRPr lang="en-IN" sz="14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242246-BACE-6E98-C117-C80143D56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53" y="-16473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1965960" cy="77724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1. Trace
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1965960" cy="777240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2. Locality
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1965960" cy="777240"/>
          </a:xfrm>
          <a:prstGeom prst="roundRect">
            <a:avLst/>
          </a:prstGeom>
          <a:solidFill>
            <a:srgbClr val="B4A7D6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000000"/>
                </a:solidFill>
                <a:latin typeface="Times New Roman MT"/>
              </a:rPr>
              <a:t>3. </a:t>
            </a:r>
            <a:r>
              <a:rPr lang="en-US" sz="1500" b="1" dirty="0">
                <a:solidFill>
                  <a:srgbClr val="000000"/>
                </a:solidFill>
                <a:latin typeface="Times New Roman MT"/>
              </a:rPr>
              <a:t>Models make </a:t>
            </a:r>
            <a:r>
              <a:rPr sz="1500" b="1" dirty="0">
                <a:solidFill>
                  <a:srgbClr val="000000"/>
                </a:solidFill>
                <a:latin typeface="Times New Roman MT"/>
              </a:rPr>
              <a:t>Expert
Prediction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212848"/>
            <a:ext cx="21031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212848"/>
            <a:ext cx="21031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37360" y="3154680"/>
            <a:ext cx="1965960" cy="777240"/>
          </a:xfrm>
          <a:prstGeom prst="roundRect">
            <a:avLst/>
          </a:prstGeom>
          <a:solidFill>
            <a:srgbClr val="5B9BD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4. Prefetch
into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154680"/>
            <a:ext cx="1965960" cy="777240"/>
          </a:xfrm>
          <a:prstGeom prst="roundRect">
            <a:avLst/>
          </a:prstGeom>
          <a:solidFill>
            <a:srgbClr val="F4B08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5. Replay Actual
Requests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 flipH="1">
            <a:off x="2816352" y="2596896"/>
            <a:ext cx="2378965" cy="530352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94732" y="2635409"/>
            <a:ext cx="868680" cy="521208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60320" y="4434840"/>
            <a:ext cx="2560320" cy="868680"/>
          </a:xfrm>
          <a:prstGeom prst="roundRect">
            <a:avLst/>
          </a:prstGeom>
          <a:solidFill>
            <a:srgbClr val="B4DCD2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Times New Roman MT"/>
              </a:rPr>
              <a:t>6. Evaluate
Precision • Coverage • Disk • Latency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 flipH="1">
            <a:off x="3886200" y="3913632"/>
            <a:ext cx="914400" cy="50292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1258666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METHODOLOGY</a:t>
            </a:r>
          </a:p>
        </p:txBody>
      </p:sp>
      <p:cxnSp>
        <p:nvCxnSpPr>
          <p:cNvPr id="6" name="Connector 13">
            <a:extLst>
              <a:ext uri="{FF2B5EF4-FFF2-40B4-BE49-F238E27FC236}">
                <a16:creationId xmlns:a16="http://schemas.microsoft.com/office/drawing/2014/main" id="{2D0A244A-8398-9899-C5A4-003B6E67B439}"/>
              </a:ext>
            </a:extLst>
          </p:cNvPr>
          <p:cNvCxnSpPr>
            <a:cxnSpLocks/>
          </p:cNvCxnSpPr>
          <p:nvPr/>
        </p:nvCxnSpPr>
        <p:spPr>
          <a:xfrm>
            <a:off x="2729484" y="3931920"/>
            <a:ext cx="623316" cy="50292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358C8E-A7B5-F426-F973-45997FEC288F}"/>
              </a:ext>
            </a:extLst>
          </p:cNvPr>
          <p:cNvSpPr txBox="1"/>
          <p:nvPr/>
        </p:nvSpPr>
        <p:spPr>
          <a:xfrm>
            <a:off x="1737360" y="5638800"/>
            <a:ext cx="466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 4: Methodology</a:t>
            </a:r>
            <a:endParaRPr lang="en-IN" sz="1400" i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72E8C98-6AF3-B2A7-DC95-32ED5E1A7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12</a:t>
            </a:r>
          </a:p>
        </p:txBody>
      </p:sp>
      <p:sp>
        <p:nvSpPr>
          <p:cNvPr id="9" name="Freeform 9"/>
          <p:cNvSpPr/>
          <p:nvPr/>
        </p:nvSpPr>
        <p:spPr>
          <a:xfrm>
            <a:off x="1044536" y="1359859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7818120" cy="42976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t>• Raw model routing is converted into JSONL records for reproducible replay.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t>• Each routing event stores the layer ID, token position, selected expert IDs and routing weights.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t>• Trace validation enforces 16 layers × 8 selected experts per token.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t>• Expanded datasets: 100 samples/workload; 80 train + 20 test by sample ID.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Times New Roman MT"/>
              </a:defRPr>
            </a:pPr>
            <a:r>
              <a:t>• Scale relationships: routing records = tokens × 16; expert selections = tokens × 16 × 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94666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Preprocessing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C0E5E-F577-345E-8F34-A812B9138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508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330" y="99060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15</a:t>
            </a:r>
          </a:p>
        </p:txBody>
      </p:sp>
      <p:sp>
        <p:nvSpPr>
          <p:cNvPr id="9" name="Freeform 9"/>
          <p:cNvSpPr/>
          <p:nvPr/>
        </p:nvSpPr>
        <p:spPr>
          <a:xfrm>
            <a:off x="1322357" y="1360790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18664" y="1809572"/>
            <a:ext cx="2148840" cy="86868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000000"/>
                </a:solidFill>
                <a:latin typeface="Times New Roman MT"/>
              </a:rPr>
              <a:t>History
Predictor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5397" y="1788861"/>
            <a:ext cx="2148840" cy="868680"/>
          </a:xfrm>
          <a:prstGeom prst="roundRect">
            <a:avLst/>
          </a:prstGeom>
          <a:solidFill>
            <a:srgbClr val="5B9BD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Transition
Predictor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957" y="1814652"/>
            <a:ext cx="2148840" cy="86868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LRU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7223760" cy="159428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lang="en-US" dirty="0"/>
              <a:t>• LRU: reactive baseline with no prediction/prefetching.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History: ranks recently observed experts and predicts frequent candidates.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Transition: learns layer-aware relationships between current and subsequent expert sets.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All cache keys are layer-aware: (</a:t>
            </a:r>
            <a:r>
              <a:rPr dirty="0" err="1"/>
              <a:t>layer_id</a:t>
            </a:r>
            <a:r>
              <a:rPr dirty="0"/>
              <a:t>, </a:t>
            </a:r>
            <a:r>
              <a:rPr dirty="0" err="1"/>
              <a:t>expert_id</a:t>
            </a:r>
            <a:r>
              <a:rPr dirty="0"/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710" y="1246001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Models Implemented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0DD6E6-CBEB-9CD3-191B-766E07B9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828800" cy="82296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Current
Experts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828800" cy="822960"/>
          </a:xfrm>
          <a:prstGeom prst="roundRect">
            <a:avLst/>
          </a:prstGeom>
          <a:solidFill>
            <a:srgbClr val="B4A7D6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Predictor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828800"/>
            <a:ext cx="1828800" cy="822960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Predicted
Experts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240280"/>
            <a:ext cx="30175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2240280"/>
            <a:ext cx="30175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3154680"/>
            <a:ext cx="1828800" cy="822960"/>
          </a:xfrm>
          <a:prstGeom prst="roundRect">
            <a:avLst/>
          </a:prstGeom>
          <a:solidFill>
            <a:srgbClr val="5B9BD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cache.prefetch()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794760" y="2651760"/>
            <a:ext cx="2011680" cy="475488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4480560"/>
            <a:ext cx="1828800" cy="822960"/>
          </a:xfrm>
          <a:prstGeom prst="roundRect">
            <a:avLst/>
          </a:prstGeom>
          <a:solidFill>
            <a:srgbClr val="F4B084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Actual Expert
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480560"/>
            <a:ext cx="1828800" cy="822960"/>
          </a:xfrm>
          <a:prstGeom prst="roundRect">
            <a:avLst/>
          </a:prstGeom>
          <a:solidFill>
            <a:srgbClr val="B4DCD2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cache.request()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480560"/>
            <a:ext cx="1828800" cy="822960"/>
          </a:xfrm>
          <a:prstGeom prst="roundRect">
            <a:avLst/>
          </a:prstGeom>
          <a:solidFill>
            <a:srgbClr val="70AD47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Times New Roman MT"/>
              </a:rPr>
              <a:t>GPU / CPU /
Disk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4892040"/>
            <a:ext cx="30175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4892040"/>
            <a:ext cx="301752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5528" y="6162039"/>
            <a:ext cx="7086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dirty="0">
                <a:solidFill>
                  <a:srgbClr val="000000"/>
                </a:solidFill>
                <a:latin typeface="Times New Roman MT"/>
              </a:rPr>
              <a:t>Prediction → prefetch → actual request → hit/miss → modeled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207008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Times New Roman MT"/>
              </a:rPr>
              <a:t>Predictor–Cache Evaluation Pipeline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85D4C23-6E97-475D-9873-12701CB0AF2E}"/>
              </a:ext>
            </a:extLst>
          </p:cNvPr>
          <p:cNvSpPr/>
          <p:nvPr/>
        </p:nvSpPr>
        <p:spPr>
          <a:xfrm>
            <a:off x="193040" y="914400"/>
            <a:ext cx="9215120" cy="5847112"/>
          </a:xfrm>
          <a:custGeom>
            <a:avLst/>
            <a:gdLst/>
            <a:ahLst/>
            <a:cxnLst/>
            <a:rect l="l" t="t" r="r" b="b"/>
            <a:pathLst>
              <a:path w="12070080" h="7410069">
                <a:moveTo>
                  <a:pt x="0" y="1248537"/>
                </a:moveTo>
                <a:cubicBezTo>
                  <a:pt x="0" y="558927"/>
                  <a:pt x="560197" y="0"/>
                  <a:pt x="1251204" y="0"/>
                </a:cubicBezTo>
                <a:lnTo>
                  <a:pt x="10818876" y="0"/>
                </a:lnTo>
                <a:lnTo>
                  <a:pt x="10818876" y="20320"/>
                </a:lnTo>
                <a:lnTo>
                  <a:pt x="10818876" y="0"/>
                </a:lnTo>
                <a:cubicBezTo>
                  <a:pt x="11509883" y="0"/>
                  <a:pt x="12070080" y="558927"/>
                  <a:pt x="12070080" y="1248537"/>
                </a:cubicBezTo>
                <a:lnTo>
                  <a:pt x="12049760" y="1248537"/>
                </a:lnTo>
                <a:lnTo>
                  <a:pt x="12070080" y="1248537"/>
                </a:lnTo>
                <a:lnTo>
                  <a:pt x="12070080" y="6161405"/>
                </a:lnTo>
                <a:lnTo>
                  <a:pt x="12049760" y="6161405"/>
                </a:lnTo>
                <a:lnTo>
                  <a:pt x="12070080" y="6161405"/>
                </a:lnTo>
                <a:cubicBezTo>
                  <a:pt x="12070080" y="6851015"/>
                  <a:pt x="11509883" y="7409942"/>
                  <a:pt x="10818876" y="7409942"/>
                </a:cubicBezTo>
                <a:lnTo>
                  <a:pt x="10818876" y="7389622"/>
                </a:lnTo>
                <a:lnTo>
                  <a:pt x="10818876" y="7409942"/>
                </a:lnTo>
                <a:lnTo>
                  <a:pt x="1251204" y="7409942"/>
                </a:lnTo>
                <a:lnTo>
                  <a:pt x="1251204" y="7389622"/>
                </a:lnTo>
                <a:lnTo>
                  <a:pt x="1251204" y="7409942"/>
                </a:lnTo>
                <a:cubicBezTo>
                  <a:pt x="560197" y="7410069"/>
                  <a:pt x="0" y="6851015"/>
                  <a:pt x="0" y="6161405"/>
                </a:cubicBezTo>
                <a:lnTo>
                  <a:pt x="0" y="1248537"/>
                </a:lnTo>
                <a:lnTo>
                  <a:pt x="20320" y="1248537"/>
                </a:lnTo>
                <a:lnTo>
                  <a:pt x="0" y="1248537"/>
                </a:lnTo>
                <a:moveTo>
                  <a:pt x="40640" y="1248537"/>
                </a:moveTo>
                <a:lnTo>
                  <a:pt x="40640" y="6161405"/>
                </a:lnTo>
                <a:lnTo>
                  <a:pt x="20320" y="6161405"/>
                </a:lnTo>
                <a:lnTo>
                  <a:pt x="40640" y="6161405"/>
                </a:lnTo>
                <a:cubicBezTo>
                  <a:pt x="40640" y="6828536"/>
                  <a:pt x="582549" y="7369302"/>
                  <a:pt x="1251204" y="7369302"/>
                </a:cubicBezTo>
                <a:lnTo>
                  <a:pt x="10818876" y="7369302"/>
                </a:lnTo>
                <a:cubicBezTo>
                  <a:pt x="11487531" y="7369302"/>
                  <a:pt x="12029440" y="6828409"/>
                  <a:pt x="12029440" y="6161405"/>
                </a:cubicBezTo>
                <a:lnTo>
                  <a:pt x="12029440" y="1248537"/>
                </a:lnTo>
                <a:cubicBezTo>
                  <a:pt x="12029440" y="581406"/>
                  <a:pt x="11487531" y="40640"/>
                  <a:pt x="10818876" y="40640"/>
                </a:cubicBezTo>
                <a:lnTo>
                  <a:pt x="1251204" y="40640"/>
                </a:lnTo>
                <a:lnTo>
                  <a:pt x="1251204" y="20320"/>
                </a:lnTo>
                <a:lnTo>
                  <a:pt x="1251204" y="40640"/>
                </a:lnTo>
                <a:cubicBezTo>
                  <a:pt x="582549" y="40640"/>
                  <a:pt x="40640" y="581533"/>
                  <a:pt x="40640" y="1248537"/>
                </a:cubicBezTo>
                <a:close/>
              </a:path>
            </a:pathLst>
          </a:custGeom>
          <a:solidFill>
            <a:srgbClr val="6699FF"/>
          </a:solidFill>
        </p:spPr>
        <p:txBody>
          <a:bodyPr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9B464-E620-554D-1064-8565617B8E83}"/>
              </a:ext>
            </a:extLst>
          </p:cNvPr>
          <p:cNvSpPr txBox="1"/>
          <p:nvPr/>
        </p:nvSpPr>
        <p:spPr>
          <a:xfrm>
            <a:off x="2057400" y="5562600"/>
            <a:ext cx="466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 5: Predictor – Cache evaluation </a:t>
            </a:r>
            <a:endParaRPr lang="en-IN" sz="1400" i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6926C6-4050-125C-D4B5-AFA25709B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12427" y="328506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934805" y="416772"/>
            <a:ext cx="210889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Arial MT Pro"/>
              </a:rPr>
              <a:t>17</a:t>
            </a:r>
            <a:endParaRPr sz="1300" dirty="0">
              <a:solidFill>
                <a:srgbClr val="000000"/>
              </a:solidFill>
              <a:latin typeface="Arial MT Pro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-1079222" y="1554537"/>
            <a:ext cx="7328747" cy="875454"/>
          </a:xfrm>
          <a:custGeom>
            <a:avLst/>
            <a:gdLst/>
            <a:ahLst/>
            <a:cxnLst/>
            <a:rect l="l" t="t" r="r" b="b"/>
            <a:pathLst>
              <a:path w="9771662" h="1167272">
                <a:moveTo>
                  <a:pt x="0" y="0"/>
                </a:moveTo>
                <a:lnTo>
                  <a:pt x="9771662" y="0"/>
                </a:lnTo>
                <a:lnTo>
                  <a:pt x="9771662" y="1167272"/>
                </a:lnTo>
                <a:lnTo>
                  <a:pt x="0" y="116727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15" name="Picture 14" descr="01_loc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663440" cy="2798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23085" y="1888722"/>
            <a:ext cx="2834640" cy="3611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Lookback window = how much past history is examined.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</a:t>
            </a:r>
            <a:r>
              <a:rPr dirty="0" err="1"/>
              <a:t>WikiText</a:t>
            </a:r>
            <a:r>
              <a:rPr dirty="0"/>
              <a:t> hit rate rises from 0.27% at window 1 to 74.77% at window 64.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Larger windows contain the smaller windows plus more history, so this locality measure is non-decreasing.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This establishes measurable temporal structure worth predicting.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374" y="1261851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Locality &amp; Temporal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A41D1-866C-162A-355B-C3336EDBA804}"/>
              </a:ext>
            </a:extLst>
          </p:cNvPr>
          <p:cNvSpPr txBox="1"/>
          <p:nvPr/>
        </p:nvSpPr>
        <p:spPr>
          <a:xfrm>
            <a:off x="704143" y="4596384"/>
            <a:ext cx="4663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 6: Expert Locality vs Lookback window graph </a:t>
            </a:r>
            <a:endParaRPr lang="en-IN" sz="1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07AA4E-92FC-CA4B-E43D-93C254F29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934805" y="416772"/>
            <a:ext cx="21088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 MT Pro"/>
              </a:rPr>
              <a:t>20</a:t>
            </a:r>
          </a:p>
        </p:txBody>
      </p:sp>
      <p:pic>
        <p:nvPicPr>
          <p:cNvPr id="15" name="Picture 14" descr="02_precision_coverage_wiki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9280"/>
            <a:ext cx="3886200" cy="233172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26280" y="1828800"/>
          <a:ext cx="3520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 MT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 MT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 MT"/>
                        </a:rP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 MT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31.83%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31.80%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Simple reuse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41.17%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41.10%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High-coverage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Selective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85.07%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Times New Roman MT"/>
                        </a:rPr>
                        <a:t>High-confidence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857500" y="4614456"/>
            <a:ext cx="3337560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Transition provides the strongest high-coverage predictor in this preliminary </a:t>
            </a:r>
            <a:r>
              <a:rPr dirty="0" err="1"/>
              <a:t>WikiText</a:t>
            </a:r>
            <a:r>
              <a:rPr dirty="0"/>
              <a:t> comparison.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1203865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Prediction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E651F-A5D4-F914-2AA9-E62121DE3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2428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934805" y="416772"/>
            <a:ext cx="210889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Arial MT Pro"/>
              </a:rPr>
              <a:t>19</a:t>
            </a:r>
            <a:endParaRPr sz="1300" dirty="0">
              <a:solidFill>
                <a:srgbClr val="000000"/>
              </a:solidFill>
              <a:latin typeface="Arial MT Pro"/>
            </a:endParaRPr>
          </a:p>
        </p:txBody>
      </p:sp>
      <p:pic>
        <p:nvPicPr>
          <p:cNvPr id="15" name="Picture 14" descr="04_disk_fet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70" y="1931024"/>
            <a:ext cx="3703320" cy="2221992"/>
          </a:xfrm>
          <a:prstGeom prst="rect">
            <a:avLst/>
          </a:prstGeom>
        </p:spPr>
      </p:pic>
      <p:pic>
        <p:nvPicPr>
          <p:cNvPr id="16" name="Picture 15" descr="05_modeled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75" y="1915740"/>
            <a:ext cx="3703320" cy="2221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074920"/>
            <a:ext cx="7315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Times New Roman MT"/>
              </a:rPr>
              <a:t>Transition generally improves coverage and reduces disk fetches, while added prefetch cost can increase modeled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7315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000000"/>
                </a:solidFill>
                <a:latin typeface="Times New Roman MT"/>
              </a:rPr>
              <a:t>These strategy/cache plots are preliminary 10-sample experiments; the 100-sample traces have been collected and split, but the full strategy comparison has not yet been rerun on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353" y="1224981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Times New Roman MT"/>
              </a:rPr>
              <a:t>Cross-Workload &amp; Cache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122F33-06D0-A3B0-41D2-611463D0F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465" y="4356140"/>
            <a:ext cx="5410669" cy="281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6A524-A504-0BAA-EB7C-ACDB89C64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446" y="106680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3213" y="1011597"/>
            <a:ext cx="7328747" cy="92546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sz="2000" dirty="0">
                <a:solidFill>
                  <a:srgbClr val="000000"/>
                </a:solidFill>
                <a:latin typeface="Times New Roman MT"/>
              </a:rPr>
              <a:t>Expert Activation Matrix (EAM)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4805" y="416772"/>
            <a:ext cx="210889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300" dirty="0">
                <a:solidFill>
                  <a:srgbClr val="000000"/>
                </a:solidFill>
                <a:latin typeface="Arial MT Pro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Arial MT Pro"/>
              </a:rPr>
              <a:t>6</a:t>
            </a:r>
            <a:endParaRPr sz="1300" dirty="0">
              <a:solidFill>
                <a:srgbClr val="000000"/>
              </a:solidFill>
              <a:latin typeface="Arial MT Pr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43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287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972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58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344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0301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401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5087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5773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6459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7145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7830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516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2023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988819" y="196596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574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1259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945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6313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317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4003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688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374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060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6746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432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1177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803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489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0175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861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15467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232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91840" y="196596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3604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4290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49757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5661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347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7033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7719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84047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9090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97763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0462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18337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25196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3205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3891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4577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262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94859" y="196596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6634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73202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80060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86918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937759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006340" y="196596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858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543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29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91540" y="213969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601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287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972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658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2344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30301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3716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4401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5087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5773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6459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7145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7830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8516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92023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98881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0574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1259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194560" y="213969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26313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317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4003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4688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5374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6060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6746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7432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81177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8803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489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0175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0861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15467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2232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2918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3604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4290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497579" y="213969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5661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6347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7033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7719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84047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9090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97763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40462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1148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18337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425196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43205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43891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45770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5262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59485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6634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73202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4800600" y="213969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486918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4937759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5006340" y="213969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858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7543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229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8915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9601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0287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097280" y="231343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1658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2344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30301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3716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4401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5087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5773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6459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7145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7830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8516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92023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98881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0574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21259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21945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226313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23317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2400300" y="231343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24688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25374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6060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6746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7432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281177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8803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29489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30175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30861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315467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2232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32918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3604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4290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49757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35661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36347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3703320" y="231343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37719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384047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39090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397763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40462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41148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418337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425196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43205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43891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44577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45262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59485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66344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473202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480060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4869180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4937759" y="231343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006340" y="231343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6858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543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8229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8915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9601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0287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0972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11658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2344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1303019" y="248716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13716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14401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5087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5773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16459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17145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17830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18516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92023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98881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20574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21259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1945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226313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23317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24003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4688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25374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2606040" y="248716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26746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27432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281177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28803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29489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0175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30861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315467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32232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32918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33604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34290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349757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35661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36347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37033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37719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84047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3909060" y="248716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397763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40462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41148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418337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425196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43205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43891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44577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45262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459485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46634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473202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480060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486918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4937759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5006340" y="248716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6858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7543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8229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8915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9601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10287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10972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11658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12344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130301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13716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14401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1508760" y="266090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15773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16459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17145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17830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18516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192023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198881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20574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21259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21945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226313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23317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24003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24688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25374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26060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26746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27432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2811779" y="266090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28803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29489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30175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ectangle 302"/>
          <p:cNvSpPr/>
          <p:nvPr/>
        </p:nvSpPr>
        <p:spPr>
          <a:xfrm>
            <a:off x="30861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Rectangle 303"/>
          <p:cNvSpPr/>
          <p:nvPr/>
        </p:nvSpPr>
        <p:spPr>
          <a:xfrm>
            <a:off x="315467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32232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32918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Rectangle 306"/>
          <p:cNvSpPr/>
          <p:nvPr/>
        </p:nvSpPr>
        <p:spPr>
          <a:xfrm>
            <a:off x="33604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34290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ectangle 308"/>
          <p:cNvSpPr/>
          <p:nvPr/>
        </p:nvSpPr>
        <p:spPr>
          <a:xfrm>
            <a:off x="349757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Rectangle 309"/>
          <p:cNvSpPr/>
          <p:nvPr/>
        </p:nvSpPr>
        <p:spPr>
          <a:xfrm>
            <a:off x="35661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Rectangle 310"/>
          <p:cNvSpPr/>
          <p:nvPr/>
        </p:nvSpPr>
        <p:spPr>
          <a:xfrm>
            <a:off x="36347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ectangle 311"/>
          <p:cNvSpPr/>
          <p:nvPr/>
        </p:nvSpPr>
        <p:spPr>
          <a:xfrm>
            <a:off x="37033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Rectangle 312"/>
          <p:cNvSpPr/>
          <p:nvPr/>
        </p:nvSpPr>
        <p:spPr>
          <a:xfrm>
            <a:off x="37719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384047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ectangle 314"/>
          <p:cNvSpPr/>
          <p:nvPr/>
        </p:nvSpPr>
        <p:spPr>
          <a:xfrm>
            <a:off x="39090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Rectangle 315"/>
          <p:cNvSpPr/>
          <p:nvPr/>
        </p:nvSpPr>
        <p:spPr>
          <a:xfrm>
            <a:off x="397763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40462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ectangle 317"/>
          <p:cNvSpPr/>
          <p:nvPr/>
        </p:nvSpPr>
        <p:spPr>
          <a:xfrm>
            <a:off x="4114800" y="266090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Rectangle 318"/>
          <p:cNvSpPr/>
          <p:nvPr/>
        </p:nvSpPr>
        <p:spPr>
          <a:xfrm>
            <a:off x="418337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425196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43205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43891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44577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45262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Rectangle 324"/>
          <p:cNvSpPr/>
          <p:nvPr/>
        </p:nvSpPr>
        <p:spPr>
          <a:xfrm>
            <a:off x="459485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Rectangle 325"/>
          <p:cNvSpPr/>
          <p:nvPr/>
        </p:nvSpPr>
        <p:spPr>
          <a:xfrm>
            <a:off x="46634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Rectangle 326"/>
          <p:cNvSpPr/>
          <p:nvPr/>
        </p:nvSpPr>
        <p:spPr>
          <a:xfrm>
            <a:off x="473202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Rectangle 327"/>
          <p:cNvSpPr/>
          <p:nvPr/>
        </p:nvSpPr>
        <p:spPr>
          <a:xfrm>
            <a:off x="480060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Rectangle 328"/>
          <p:cNvSpPr/>
          <p:nvPr/>
        </p:nvSpPr>
        <p:spPr>
          <a:xfrm>
            <a:off x="486918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Rectangle 329"/>
          <p:cNvSpPr/>
          <p:nvPr/>
        </p:nvSpPr>
        <p:spPr>
          <a:xfrm>
            <a:off x="4937759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5006340" y="266090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ectangle 331"/>
          <p:cNvSpPr/>
          <p:nvPr/>
        </p:nvSpPr>
        <p:spPr>
          <a:xfrm>
            <a:off x="6858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7543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Rectangle 333"/>
          <p:cNvSpPr/>
          <p:nvPr/>
        </p:nvSpPr>
        <p:spPr>
          <a:xfrm>
            <a:off x="8229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Rectangle 334"/>
          <p:cNvSpPr/>
          <p:nvPr/>
        </p:nvSpPr>
        <p:spPr>
          <a:xfrm>
            <a:off x="8915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9601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ectangle 336"/>
          <p:cNvSpPr/>
          <p:nvPr/>
        </p:nvSpPr>
        <p:spPr>
          <a:xfrm>
            <a:off x="10287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Rectangle 337"/>
          <p:cNvSpPr/>
          <p:nvPr/>
        </p:nvSpPr>
        <p:spPr>
          <a:xfrm>
            <a:off x="10972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Rectangle 338"/>
          <p:cNvSpPr/>
          <p:nvPr/>
        </p:nvSpPr>
        <p:spPr>
          <a:xfrm>
            <a:off x="11658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Rectangle 339"/>
          <p:cNvSpPr/>
          <p:nvPr/>
        </p:nvSpPr>
        <p:spPr>
          <a:xfrm>
            <a:off x="12344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ectangle 340"/>
          <p:cNvSpPr/>
          <p:nvPr/>
        </p:nvSpPr>
        <p:spPr>
          <a:xfrm>
            <a:off x="130301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Rectangle 341"/>
          <p:cNvSpPr/>
          <p:nvPr/>
        </p:nvSpPr>
        <p:spPr>
          <a:xfrm>
            <a:off x="13716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42"/>
          <p:cNvSpPr/>
          <p:nvPr/>
        </p:nvSpPr>
        <p:spPr>
          <a:xfrm>
            <a:off x="14401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Rectangle 343"/>
          <p:cNvSpPr/>
          <p:nvPr/>
        </p:nvSpPr>
        <p:spPr>
          <a:xfrm>
            <a:off x="15087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Rectangle 344"/>
          <p:cNvSpPr/>
          <p:nvPr/>
        </p:nvSpPr>
        <p:spPr>
          <a:xfrm>
            <a:off x="15773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16459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1714500" y="2834639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347"/>
          <p:cNvSpPr/>
          <p:nvPr/>
        </p:nvSpPr>
        <p:spPr>
          <a:xfrm>
            <a:off x="17830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18516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Rectangle 349"/>
          <p:cNvSpPr/>
          <p:nvPr/>
        </p:nvSpPr>
        <p:spPr>
          <a:xfrm>
            <a:off x="192023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Rectangle 350"/>
          <p:cNvSpPr/>
          <p:nvPr/>
        </p:nvSpPr>
        <p:spPr>
          <a:xfrm>
            <a:off x="198881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20574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Rectangle 352"/>
          <p:cNvSpPr/>
          <p:nvPr/>
        </p:nvSpPr>
        <p:spPr>
          <a:xfrm>
            <a:off x="21259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21945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ectangle 354"/>
          <p:cNvSpPr/>
          <p:nvPr/>
        </p:nvSpPr>
        <p:spPr>
          <a:xfrm>
            <a:off x="226313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23317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24003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357"/>
          <p:cNvSpPr/>
          <p:nvPr/>
        </p:nvSpPr>
        <p:spPr>
          <a:xfrm>
            <a:off x="24688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Rectangle 358"/>
          <p:cNvSpPr/>
          <p:nvPr/>
        </p:nvSpPr>
        <p:spPr>
          <a:xfrm>
            <a:off x="25374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ectangle 359"/>
          <p:cNvSpPr/>
          <p:nvPr/>
        </p:nvSpPr>
        <p:spPr>
          <a:xfrm>
            <a:off x="26060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ectangle 360"/>
          <p:cNvSpPr/>
          <p:nvPr/>
        </p:nvSpPr>
        <p:spPr>
          <a:xfrm>
            <a:off x="26746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27432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Rectangle 362"/>
          <p:cNvSpPr/>
          <p:nvPr/>
        </p:nvSpPr>
        <p:spPr>
          <a:xfrm>
            <a:off x="281177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Rectangle 363"/>
          <p:cNvSpPr/>
          <p:nvPr/>
        </p:nvSpPr>
        <p:spPr>
          <a:xfrm>
            <a:off x="28803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364"/>
          <p:cNvSpPr/>
          <p:nvPr/>
        </p:nvSpPr>
        <p:spPr>
          <a:xfrm>
            <a:off x="29489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Rectangle 365"/>
          <p:cNvSpPr/>
          <p:nvPr/>
        </p:nvSpPr>
        <p:spPr>
          <a:xfrm>
            <a:off x="3017520" y="2834639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30861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Rectangle 367"/>
          <p:cNvSpPr/>
          <p:nvPr/>
        </p:nvSpPr>
        <p:spPr>
          <a:xfrm>
            <a:off x="315467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Rectangle 368"/>
          <p:cNvSpPr/>
          <p:nvPr/>
        </p:nvSpPr>
        <p:spPr>
          <a:xfrm>
            <a:off x="32232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32918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Rectangle 370"/>
          <p:cNvSpPr/>
          <p:nvPr/>
        </p:nvSpPr>
        <p:spPr>
          <a:xfrm>
            <a:off x="33604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ectangle 371"/>
          <p:cNvSpPr/>
          <p:nvPr/>
        </p:nvSpPr>
        <p:spPr>
          <a:xfrm>
            <a:off x="34290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Rectangle 372"/>
          <p:cNvSpPr/>
          <p:nvPr/>
        </p:nvSpPr>
        <p:spPr>
          <a:xfrm>
            <a:off x="349757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35661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Rectangle 374"/>
          <p:cNvSpPr/>
          <p:nvPr/>
        </p:nvSpPr>
        <p:spPr>
          <a:xfrm>
            <a:off x="36347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Rectangle 375"/>
          <p:cNvSpPr/>
          <p:nvPr/>
        </p:nvSpPr>
        <p:spPr>
          <a:xfrm>
            <a:off x="37033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Rectangle 376"/>
          <p:cNvSpPr/>
          <p:nvPr/>
        </p:nvSpPr>
        <p:spPr>
          <a:xfrm>
            <a:off x="37719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377"/>
          <p:cNvSpPr/>
          <p:nvPr/>
        </p:nvSpPr>
        <p:spPr>
          <a:xfrm>
            <a:off x="384047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Rectangle 378"/>
          <p:cNvSpPr/>
          <p:nvPr/>
        </p:nvSpPr>
        <p:spPr>
          <a:xfrm>
            <a:off x="39090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Rectangle 379"/>
          <p:cNvSpPr/>
          <p:nvPr/>
        </p:nvSpPr>
        <p:spPr>
          <a:xfrm>
            <a:off x="397763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Rectangle 380"/>
          <p:cNvSpPr/>
          <p:nvPr/>
        </p:nvSpPr>
        <p:spPr>
          <a:xfrm>
            <a:off x="40462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ectangle 381"/>
          <p:cNvSpPr/>
          <p:nvPr/>
        </p:nvSpPr>
        <p:spPr>
          <a:xfrm>
            <a:off x="41148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Rectangle 382"/>
          <p:cNvSpPr/>
          <p:nvPr/>
        </p:nvSpPr>
        <p:spPr>
          <a:xfrm>
            <a:off x="418337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383"/>
          <p:cNvSpPr/>
          <p:nvPr/>
        </p:nvSpPr>
        <p:spPr>
          <a:xfrm>
            <a:off x="425196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384"/>
          <p:cNvSpPr/>
          <p:nvPr/>
        </p:nvSpPr>
        <p:spPr>
          <a:xfrm>
            <a:off x="4320540" y="2834639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Rectangle 385"/>
          <p:cNvSpPr/>
          <p:nvPr/>
        </p:nvSpPr>
        <p:spPr>
          <a:xfrm>
            <a:off x="43891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ectangle 386"/>
          <p:cNvSpPr/>
          <p:nvPr/>
        </p:nvSpPr>
        <p:spPr>
          <a:xfrm>
            <a:off x="44577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Rectangle 387"/>
          <p:cNvSpPr/>
          <p:nvPr/>
        </p:nvSpPr>
        <p:spPr>
          <a:xfrm>
            <a:off x="45262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459485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Rectangle 389"/>
          <p:cNvSpPr/>
          <p:nvPr/>
        </p:nvSpPr>
        <p:spPr>
          <a:xfrm>
            <a:off x="46634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Rectangle 390"/>
          <p:cNvSpPr/>
          <p:nvPr/>
        </p:nvSpPr>
        <p:spPr>
          <a:xfrm>
            <a:off x="473202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Rectangle 391"/>
          <p:cNvSpPr/>
          <p:nvPr/>
        </p:nvSpPr>
        <p:spPr>
          <a:xfrm>
            <a:off x="480060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Rectangle 392"/>
          <p:cNvSpPr/>
          <p:nvPr/>
        </p:nvSpPr>
        <p:spPr>
          <a:xfrm>
            <a:off x="486918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Rectangle 393"/>
          <p:cNvSpPr/>
          <p:nvPr/>
        </p:nvSpPr>
        <p:spPr>
          <a:xfrm>
            <a:off x="4937759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Rectangle 394"/>
          <p:cNvSpPr/>
          <p:nvPr/>
        </p:nvSpPr>
        <p:spPr>
          <a:xfrm>
            <a:off x="5006340" y="2834639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Rectangle 395"/>
          <p:cNvSpPr/>
          <p:nvPr/>
        </p:nvSpPr>
        <p:spPr>
          <a:xfrm>
            <a:off x="6858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Rectangle 396"/>
          <p:cNvSpPr/>
          <p:nvPr/>
        </p:nvSpPr>
        <p:spPr>
          <a:xfrm>
            <a:off x="7543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Rectangle 397"/>
          <p:cNvSpPr/>
          <p:nvPr/>
        </p:nvSpPr>
        <p:spPr>
          <a:xfrm>
            <a:off x="8229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Rectangle 398"/>
          <p:cNvSpPr/>
          <p:nvPr/>
        </p:nvSpPr>
        <p:spPr>
          <a:xfrm>
            <a:off x="8915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Rectangle 399"/>
          <p:cNvSpPr/>
          <p:nvPr/>
        </p:nvSpPr>
        <p:spPr>
          <a:xfrm>
            <a:off x="9601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Rectangle 400"/>
          <p:cNvSpPr/>
          <p:nvPr/>
        </p:nvSpPr>
        <p:spPr>
          <a:xfrm>
            <a:off x="10287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Rectangle 401"/>
          <p:cNvSpPr/>
          <p:nvPr/>
        </p:nvSpPr>
        <p:spPr>
          <a:xfrm>
            <a:off x="10972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Rectangle 402"/>
          <p:cNvSpPr/>
          <p:nvPr/>
        </p:nvSpPr>
        <p:spPr>
          <a:xfrm>
            <a:off x="11658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Rectangle 403"/>
          <p:cNvSpPr/>
          <p:nvPr/>
        </p:nvSpPr>
        <p:spPr>
          <a:xfrm>
            <a:off x="12344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Rectangle 404"/>
          <p:cNvSpPr/>
          <p:nvPr/>
        </p:nvSpPr>
        <p:spPr>
          <a:xfrm>
            <a:off x="130301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Rectangle 405"/>
          <p:cNvSpPr/>
          <p:nvPr/>
        </p:nvSpPr>
        <p:spPr>
          <a:xfrm>
            <a:off x="13716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Rectangle 406"/>
          <p:cNvSpPr/>
          <p:nvPr/>
        </p:nvSpPr>
        <p:spPr>
          <a:xfrm>
            <a:off x="14401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Rectangle 407"/>
          <p:cNvSpPr/>
          <p:nvPr/>
        </p:nvSpPr>
        <p:spPr>
          <a:xfrm>
            <a:off x="15087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Rectangle 408"/>
          <p:cNvSpPr/>
          <p:nvPr/>
        </p:nvSpPr>
        <p:spPr>
          <a:xfrm>
            <a:off x="15773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Rectangle 409"/>
          <p:cNvSpPr/>
          <p:nvPr/>
        </p:nvSpPr>
        <p:spPr>
          <a:xfrm>
            <a:off x="16459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Rectangle 410"/>
          <p:cNvSpPr/>
          <p:nvPr/>
        </p:nvSpPr>
        <p:spPr>
          <a:xfrm>
            <a:off x="17145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Rectangle 411"/>
          <p:cNvSpPr/>
          <p:nvPr/>
        </p:nvSpPr>
        <p:spPr>
          <a:xfrm>
            <a:off x="17830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ectangle 412"/>
          <p:cNvSpPr/>
          <p:nvPr/>
        </p:nvSpPr>
        <p:spPr>
          <a:xfrm>
            <a:off x="18516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Rectangle 413"/>
          <p:cNvSpPr/>
          <p:nvPr/>
        </p:nvSpPr>
        <p:spPr>
          <a:xfrm>
            <a:off x="1920239" y="300837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Rectangle 414"/>
          <p:cNvSpPr/>
          <p:nvPr/>
        </p:nvSpPr>
        <p:spPr>
          <a:xfrm>
            <a:off x="198881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Rectangle 415"/>
          <p:cNvSpPr/>
          <p:nvPr/>
        </p:nvSpPr>
        <p:spPr>
          <a:xfrm>
            <a:off x="20574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ectangle 416"/>
          <p:cNvSpPr/>
          <p:nvPr/>
        </p:nvSpPr>
        <p:spPr>
          <a:xfrm>
            <a:off x="21259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Rectangle 417"/>
          <p:cNvSpPr/>
          <p:nvPr/>
        </p:nvSpPr>
        <p:spPr>
          <a:xfrm>
            <a:off x="21945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ectangle 418"/>
          <p:cNvSpPr/>
          <p:nvPr/>
        </p:nvSpPr>
        <p:spPr>
          <a:xfrm>
            <a:off x="226313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Rectangle 419"/>
          <p:cNvSpPr/>
          <p:nvPr/>
        </p:nvSpPr>
        <p:spPr>
          <a:xfrm>
            <a:off x="23317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ectangle 420"/>
          <p:cNvSpPr/>
          <p:nvPr/>
        </p:nvSpPr>
        <p:spPr>
          <a:xfrm>
            <a:off x="24003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Rectangle 421"/>
          <p:cNvSpPr/>
          <p:nvPr/>
        </p:nvSpPr>
        <p:spPr>
          <a:xfrm>
            <a:off x="24688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Rectangle 422"/>
          <p:cNvSpPr/>
          <p:nvPr/>
        </p:nvSpPr>
        <p:spPr>
          <a:xfrm>
            <a:off x="25374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ectangle 423"/>
          <p:cNvSpPr/>
          <p:nvPr/>
        </p:nvSpPr>
        <p:spPr>
          <a:xfrm>
            <a:off x="26060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Rectangle 424"/>
          <p:cNvSpPr/>
          <p:nvPr/>
        </p:nvSpPr>
        <p:spPr>
          <a:xfrm>
            <a:off x="26746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Rectangle 425"/>
          <p:cNvSpPr/>
          <p:nvPr/>
        </p:nvSpPr>
        <p:spPr>
          <a:xfrm>
            <a:off x="27432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Rectangle 426"/>
          <p:cNvSpPr/>
          <p:nvPr/>
        </p:nvSpPr>
        <p:spPr>
          <a:xfrm>
            <a:off x="281177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ectangle 427"/>
          <p:cNvSpPr/>
          <p:nvPr/>
        </p:nvSpPr>
        <p:spPr>
          <a:xfrm>
            <a:off x="28803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Rectangle 428"/>
          <p:cNvSpPr/>
          <p:nvPr/>
        </p:nvSpPr>
        <p:spPr>
          <a:xfrm>
            <a:off x="29489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Rectangle 429"/>
          <p:cNvSpPr/>
          <p:nvPr/>
        </p:nvSpPr>
        <p:spPr>
          <a:xfrm>
            <a:off x="30175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Rectangle 430"/>
          <p:cNvSpPr/>
          <p:nvPr/>
        </p:nvSpPr>
        <p:spPr>
          <a:xfrm>
            <a:off x="30861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ectangle 431"/>
          <p:cNvSpPr/>
          <p:nvPr/>
        </p:nvSpPr>
        <p:spPr>
          <a:xfrm>
            <a:off x="315467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Rectangle 432"/>
          <p:cNvSpPr/>
          <p:nvPr/>
        </p:nvSpPr>
        <p:spPr>
          <a:xfrm>
            <a:off x="3223260" y="300837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ectangle 433"/>
          <p:cNvSpPr/>
          <p:nvPr/>
        </p:nvSpPr>
        <p:spPr>
          <a:xfrm>
            <a:off x="32918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Rectangle 434"/>
          <p:cNvSpPr/>
          <p:nvPr/>
        </p:nvSpPr>
        <p:spPr>
          <a:xfrm>
            <a:off x="33604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ectangle 435"/>
          <p:cNvSpPr/>
          <p:nvPr/>
        </p:nvSpPr>
        <p:spPr>
          <a:xfrm>
            <a:off x="34290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Rectangle 436"/>
          <p:cNvSpPr/>
          <p:nvPr/>
        </p:nvSpPr>
        <p:spPr>
          <a:xfrm>
            <a:off x="349757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ectangle 437"/>
          <p:cNvSpPr/>
          <p:nvPr/>
        </p:nvSpPr>
        <p:spPr>
          <a:xfrm>
            <a:off x="35661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Rectangle 438"/>
          <p:cNvSpPr/>
          <p:nvPr/>
        </p:nvSpPr>
        <p:spPr>
          <a:xfrm>
            <a:off x="36347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Rectangle 439"/>
          <p:cNvSpPr/>
          <p:nvPr/>
        </p:nvSpPr>
        <p:spPr>
          <a:xfrm>
            <a:off x="37033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Rectangle 440"/>
          <p:cNvSpPr/>
          <p:nvPr/>
        </p:nvSpPr>
        <p:spPr>
          <a:xfrm>
            <a:off x="37719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ectangle 441"/>
          <p:cNvSpPr/>
          <p:nvPr/>
        </p:nvSpPr>
        <p:spPr>
          <a:xfrm>
            <a:off x="384047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ectangle 442"/>
          <p:cNvSpPr/>
          <p:nvPr/>
        </p:nvSpPr>
        <p:spPr>
          <a:xfrm>
            <a:off x="39090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Rectangle 443"/>
          <p:cNvSpPr/>
          <p:nvPr/>
        </p:nvSpPr>
        <p:spPr>
          <a:xfrm>
            <a:off x="397763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Rectangle 444"/>
          <p:cNvSpPr/>
          <p:nvPr/>
        </p:nvSpPr>
        <p:spPr>
          <a:xfrm>
            <a:off x="40462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Rectangle 445"/>
          <p:cNvSpPr/>
          <p:nvPr/>
        </p:nvSpPr>
        <p:spPr>
          <a:xfrm>
            <a:off x="41148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Rectangle 446"/>
          <p:cNvSpPr/>
          <p:nvPr/>
        </p:nvSpPr>
        <p:spPr>
          <a:xfrm>
            <a:off x="418337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Rectangle 447"/>
          <p:cNvSpPr/>
          <p:nvPr/>
        </p:nvSpPr>
        <p:spPr>
          <a:xfrm>
            <a:off x="425196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Rectangle 448"/>
          <p:cNvSpPr/>
          <p:nvPr/>
        </p:nvSpPr>
        <p:spPr>
          <a:xfrm>
            <a:off x="43205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Rectangle 449"/>
          <p:cNvSpPr/>
          <p:nvPr/>
        </p:nvSpPr>
        <p:spPr>
          <a:xfrm>
            <a:off x="43891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Rectangle 450"/>
          <p:cNvSpPr/>
          <p:nvPr/>
        </p:nvSpPr>
        <p:spPr>
          <a:xfrm>
            <a:off x="44577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Rectangle 451"/>
          <p:cNvSpPr/>
          <p:nvPr/>
        </p:nvSpPr>
        <p:spPr>
          <a:xfrm>
            <a:off x="4526280" y="300837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Rectangle 452"/>
          <p:cNvSpPr/>
          <p:nvPr/>
        </p:nvSpPr>
        <p:spPr>
          <a:xfrm>
            <a:off x="459485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Rectangle 453"/>
          <p:cNvSpPr/>
          <p:nvPr/>
        </p:nvSpPr>
        <p:spPr>
          <a:xfrm>
            <a:off x="46634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Rectangle 454"/>
          <p:cNvSpPr/>
          <p:nvPr/>
        </p:nvSpPr>
        <p:spPr>
          <a:xfrm>
            <a:off x="473202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Rectangle 455"/>
          <p:cNvSpPr/>
          <p:nvPr/>
        </p:nvSpPr>
        <p:spPr>
          <a:xfrm>
            <a:off x="480060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Rectangle 456"/>
          <p:cNvSpPr/>
          <p:nvPr/>
        </p:nvSpPr>
        <p:spPr>
          <a:xfrm>
            <a:off x="486918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Rectangle 457"/>
          <p:cNvSpPr/>
          <p:nvPr/>
        </p:nvSpPr>
        <p:spPr>
          <a:xfrm>
            <a:off x="4937759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Rectangle 458"/>
          <p:cNvSpPr/>
          <p:nvPr/>
        </p:nvSpPr>
        <p:spPr>
          <a:xfrm>
            <a:off x="5006340" y="300837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Rectangle 459"/>
          <p:cNvSpPr/>
          <p:nvPr/>
        </p:nvSpPr>
        <p:spPr>
          <a:xfrm>
            <a:off x="6858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Rectangle 460"/>
          <p:cNvSpPr/>
          <p:nvPr/>
        </p:nvSpPr>
        <p:spPr>
          <a:xfrm>
            <a:off x="7543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Rectangle 461"/>
          <p:cNvSpPr/>
          <p:nvPr/>
        </p:nvSpPr>
        <p:spPr>
          <a:xfrm>
            <a:off x="822960" y="318211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Rectangle 462"/>
          <p:cNvSpPr/>
          <p:nvPr/>
        </p:nvSpPr>
        <p:spPr>
          <a:xfrm>
            <a:off x="8915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Rectangle 463"/>
          <p:cNvSpPr/>
          <p:nvPr/>
        </p:nvSpPr>
        <p:spPr>
          <a:xfrm>
            <a:off x="9601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Rectangle 464"/>
          <p:cNvSpPr/>
          <p:nvPr/>
        </p:nvSpPr>
        <p:spPr>
          <a:xfrm>
            <a:off x="10287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Rectangle 465"/>
          <p:cNvSpPr/>
          <p:nvPr/>
        </p:nvSpPr>
        <p:spPr>
          <a:xfrm>
            <a:off x="10972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Rectangle 466"/>
          <p:cNvSpPr/>
          <p:nvPr/>
        </p:nvSpPr>
        <p:spPr>
          <a:xfrm>
            <a:off x="11658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Rectangle 467"/>
          <p:cNvSpPr/>
          <p:nvPr/>
        </p:nvSpPr>
        <p:spPr>
          <a:xfrm>
            <a:off x="12344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Rectangle 468"/>
          <p:cNvSpPr/>
          <p:nvPr/>
        </p:nvSpPr>
        <p:spPr>
          <a:xfrm>
            <a:off x="130301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Rectangle 469"/>
          <p:cNvSpPr/>
          <p:nvPr/>
        </p:nvSpPr>
        <p:spPr>
          <a:xfrm>
            <a:off x="13716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Rectangle 470"/>
          <p:cNvSpPr/>
          <p:nvPr/>
        </p:nvSpPr>
        <p:spPr>
          <a:xfrm>
            <a:off x="14401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Rectangle 471"/>
          <p:cNvSpPr/>
          <p:nvPr/>
        </p:nvSpPr>
        <p:spPr>
          <a:xfrm>
            <a:off x="15087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Rectangle 472"/>
          <p:cNvSpPr/>
          <p:nvPr/>
        </p:nvSpPr>
        <p:spPr>
          <a:xfrm>
            <a:off x="15773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Rectangle 473"/>
          <p:cNvSpPr/>
          <p:nvPr/>
        </p:nvSpPr>
        <p:spPr>
          <a:xfrm>
            <a:off x="16459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Rectangle 474"/>
          <p:cNvSpPr/>
          <p:nvPr/>
        </p:nvSpPr>
        <p:spPr>
          <a:xfrm>
            <a:off x="17145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Rectangle 475"/>
          <p:cNvSpPr/>
          <p:nvPr/>
        </p:nvSpPr>
        <p:spPr>
          <a:xfrm>
            <a:off x="17830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Rectangle 476"/>
          <p:cNvSpPr/>
          <p:nvPr/>
        </p:nvSpPr>
        <p:spPr>
          <a:xfrm>
            <a:off x="18516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Rectangle 477"/>
          <p:cNvSpPr/>
          <p:nvPr/>
        </p:nvSpPr>
        <p:spPr>
          <a:xfrm>
            <a:off x="192023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Rectangle 478"/>
          <p:cNvSpPr/>
          <p:nvPr/>
        </p:nvSpPr>
        <p:spPr>
          <a:xfrm>
            <a:off x="198881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Rectangle 479"/>
          <p:cNvSpPr/>
          <p:nvPr/>
        </p:nvSpPr>
        <p:spPr>
          <a:xfrm>
            <a:off x="20574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Rectangle 480"/>
          <p:cNvSpPr/>
          <p:nvPr/>
        </p:nvSpPr>
        <p:spPr>
          <a:xfrm>
            <a:off x="2125980" y="318211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Rectangle 481"/>
          <p:cNvSpPr/>
          <p:nvPr/>
        </p:nvSpPr>
        <p:spPr>
          <a:xfrm>
            <a:off x="21945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Rectangle 482"/>
          <p:cNvSpPr/>
          <p:nvPr/>
        </p:nvSpPr>
        <p:spPr>
          <a:xfrm>
            <a:off x="226313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Rectangle 483"/>
          <p:cNvSpPr/>
          <p:nvPr/>
        </p:nvSpPr>
        <p:spPr>
          <a:xfrm>
            <a:off x="23317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Rectangle 484"/>
          <p:cNvSpPr/>
          <p:nvPr/>
        </p:nvSpPr>
        <p:spPr>
          <a:xfrm>
            <a:off x="24003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Rectangle 485"/>
          <p:cNvSpPr/>
          <p:nvPr/>
        </p:nvSpPr>
        <p:spPr>
          <a:xfrm>
            <a:off x="24688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Rectangle 486"/>
          <p:cNvSpPr/>
          <p:nvPr/>
        </p:nvSpPr>
        <p:spPr>
          <a:xfrm>
            <a:off x="25374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Rectangle 487"/>
          <p:cNvSpPr/>
          <p:nvPr/>
        </p:nvSpPr>
        <p:spPr>
          <a:xfrm>
            <a:off x="26060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Rectangle 488"/>
          <p:cNvSpPr/>
          <p:nvPr/>
        </p:nvSpPr>
        <p:spPr>
          <a:xfrm>
            <a:off x="26746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Rectangle 489"/>
          <p:cNvSpPr/>
          <p:nvPr/>
        </p:nvSpPr>
        <p:spPr>
          <a:xfrm>
            <a:off x="27432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Rectangle 490"/>
          <p:cNvSpPr/>
          <p:nvPr/>
        </p:nvSpPr>
        <p:spPr>
          <a:xfrm>
            <a:off x="281177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28803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Rectangle 492"/>
          <p:cNvSpPr/>
          <p:nvPr/>
        </p:nvSpPr>
        <p:spPr>
          <a:xfrm>
            <a:off x="29489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Rectangle 493"/>
          <p:cNvSpPr/>
          <p:nvPr/>
        </p:nvSpPr>
        <p:spPr>
          <a:xfrm>
            <a:off x="30175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Rectangle 494"/>
          <p:cNvSpPr/>
          <p:nvPr/>
        </p:nvSpPr>
        <p:spPr>
          <a:xfrm>
            <a:off x="30861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Rectangle 495"/>
          <p:cNvSpPr/>
          <p:nvPr/>
        </p:nvSpPr>
        <p:spPr>
          <a:xfrm>
            <a:off x="315467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Rectangle 496"/>
          <p:cNvSpPr/>
          <p:nvPr/>
        </p:nvSpPr>
        <p:spPr>
          <a:xfrm>
            <a:off x="32232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Rectangle 497"/>
          <p:cNvSpPr/>
          <p:nvPr/>
        </p:nvSpPr>
        <p:spPr>
          <a:xfrm>
            <a:off x="32918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Rectangle 498"/>
          <p:cNvSpPr/>
          <p:nvPr/>
        </p:nvSpPr>
        <p:spPr>
          <a:xfrm>
            <a:off x="33604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Rectangle 499"/>
          <p:cNvSpPr/>
          <p:nvPr/>
        </p:nvSpPr>
        <p:spPr>
          <a:xfrm>
            <a:off x="3429000" y="318211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Rectangle 500"/>
          <p:cNvSpPr/>
          <p:nvPr/>
        </p:nvSpPr>
        <p:spPr>
          <a:xfrm>
            <a:off x="349757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Rectangle 501"/>
          <p:cNvSpPr/>
          <p:nvPr/>
        </p:nvSpPr>
        <p:spPr>
          <a:xfrm>
            <a:off x="35661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Rectangle 502"/>
          <p:cNvSpPr/>
          <p:nvPr/>
        </p:nvSpPr>
        <p:spPr>
          <a:xfrm>
            <a:off x="36347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7033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Rectangle 504"/>
          <p:cNvSpPr/>
          <p:nvPr/>
        </p:nvSpPr>
        <p:spPr>
          <a:xfrm>
            <a:off x="37719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Rectangle 505"/>
          <p:cNvSpPr/>
          <p:nvPr/>
        </p:nvSpPr>
        <p:spPr>
          <a:xfrm>
            <a:off x="384047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Rectangle 506"/>
          <p:cNvSpPr/>
          <p:nvPr/>
        </p:nvSpPr>
        <p:spPr>
          <a:xfrm>
            <a:off x="39090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Rectangle 507"/>
          <p:cNvSpPr/>
          <p:nvPr/>
        </p:nvSpPr>
        <p:spPr>
          <a:xfrm>
            <a:off x="397763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Rectangle 508"/>
          <p:cNvSpPr/>
          <p:nvPr/>
        </p:nvSpPr>
        <p:spPr>
          <a:xfrm>
            <a:off x="40462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Rectangle 509"/>
          <p:cNvSpPr/>
          <p:nvPr/>
        </p:nvSpPr>
        <p:spPr>
          <a:xfrm>
            <a:off x="41148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Rectangle 510"/>
          <p:cNvSpPr/>
          <p:nvPr/>
        </p:nvSpPr>
        <p:spPr>
          <a:xfrm>
            <a:off x="418337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425196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Rectangle 512"/>
          <p:cNvSpPr/>
          <p:nvPr/>
        </p:nvSpPr>
        <p:spPr>
          <a:xfrm>
            <a:off x="43205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Rectangle 513"/>
          <p:cNvSpPr/>
          <p:nvPr/>
        </p:nvSpPr>
        <p:spPr>
          <a:xfrm>
            <a:off x="438912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5" name="Rectangle 514"/>
          <p:cNvSpPr/>
          <p:nvPr/>
        </p:nvSpPr>
        <p:spPr>
          <a:xfrm>
            <a:off x="44577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Rectangle 515"/>
          <p:cNvSpPr/>
          <p:nvPr/>
        </p:nvSpPr>
        <p:spPr>
          <a:xfrm>
            <a:off x="45262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Rectangle 516"/>
          <p:cNvSpPr/>
          <p:nvPr/>
        </p:nvSpPr>
        <p:spPr>
          <a:xfrm>
            <a:off x="459485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Rectangle 517"/>
          <p:cNvSpPr/>
          <p:nvPr/>
        </p:nvSpPr>
        <p:spPr>
          <a:xfrm>
            <a:off x="46634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Rectangle 518"/>
          <p:cNvSpPr/>
          <p:nvPr/>
        </p:nvSpPr>
        <p:spPr>
          <a:xfrm>
            <a:off x="4732020" y="3182112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Rectangle 519"/>
          <p:cNvSpPr/>
          <p:nvPr/>
        </p:nvSpPr>
        <p:spPr>
          <a:xfrm>
            <a:off x="480060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Rectangle 520"/>
          <p:cNvSpPr/>
          <p:nvPr/>
        </p:nvSpPr>
        <p:spPr>
          <a:xfrm>
            <a:off x="486918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Rectangle 521"/>
          <p:cNvSpPr/>
          <p:nvPr/>
        </p:nvSpPr>
        <p:spPr>
          <a:xfrm>
            <a:off x="4937759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Rectangle 522"/>
          <p:cNvSpPr/>
          <p:nvPr/>
        </p:nvSpPr>
        <p:spPr>
          <a:xfrm>
            <a:off x="5006340" y="3182112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Rectangle 523"/>
          <p:cNvSpPr/>
          <p:nvPr/>
        </p:nvSpPr>
        <p:spPr>
          <a:xfrm>
            <a:off x="6858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5" name="Rectangle 524"/>
          <p:cNvSpPr/>
          <p:nvPr/>
        </p:nvSpPr>
        <p:spPr>
          <a:xfrm>
            <a:off x="7543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Rectangle 525"/>
          <p:cNvSpPr/>
          <p:nvPr/>
        </p:nvSpPr>
        <p:spPr>
          <a:xfrm>
            <a:off x="8229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Rectangle 526"/>
          <p:cNvSpPr/>
          <p:nvPr/>
        </p:nvSpPr>
        <p:spPr>
          <a:xfrm>
            <a:off x="8915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Rectangle 527"/>
          <p:cNvSpPr/>
          <p:nvPr/>
        </p:nvSpPr>
        <p:spPr>
          <a:xfrm>
            <a:off x="9601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Rectangle 528"/>
          <p:cNvSpPr/>
          <p:nvPr/>
        </p:nvSpPr>
        <p:spPr>
          <a:xfrm>
            <a:off x="1028700" y="335584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Rectangle 529"/>
          <p:cNvSpPr/>
          <p:nvPr/>
        </p:nvSpPr>
        <p:spPr>
          <a:xfrm>
            <a:off x="10972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Rectangle 530"/>
          <p:cNvSpPr/>
          <p:nvPr/>
        </p:nvSpPr>
        <p:spPr>
          <a:xfrm>
            <a:off x="11658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Rectangle 531"/>
          <p:cNvSpPr/>
          <p:nvPr/>
        </p:nvSpPr>
        <p:spPr>
          <a:xfrm>
            <a:off x="12344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Rectangle 532"/>
          <p:cNvSpPr/>
          <p:nvPr/>
        </p:nvSpPr>
        <p:spPr>
          <a:xfrm>
            <a:off x="130301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Rectangle 533"/>
          <p:cNvSpPr/>
          <p:nvPr/>
        </p:nvSpPr>
        <p:spPr>
          <a:xfrm>
            <a:off x="13716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Rectangle 534"/>
          <p:cNvSpPr/>
          <p:nvPr/>
        </p:nvSpPr>
        <p:spPr>
          <a:xfrm>
            <a:off x="14401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Rectangle 535"/>
          <p:cNvSpPr/>
          <p:nvPr/>
        </p:nvSpPr>
        <p:spPr>
          <a:xfrm>
            <a:off x="15087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Rectangle 536"/>
          <p:cNvSpPr/>
          <p:nvPr/>
        </p:nvSpPr>
        <p:spPr>
          <a:xfrm>
            <a:off x="15773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Rectangle 537"/>
          <p:cNvSpPr/>
          <p:nvPr/>
        </p:nvSpPr>
        <p:spPr>
          <a:xfrm>
            <a:off x="16459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Rectangle 538"/>
          <p:cNvSpPr/>
          <p:nvPr/>
        </p:nvSpPr>
        <p:spPr>
          <a:xfrm>
            <a:off x="17145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Rectangle 539"/>
          <p:cNvSpPr/>
          <p:nvPr/>
        </p:nvSpPr>
        <p:spPr>
          <a:xfrm>
            <a:off x="17830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Rectangle 540"/>
          <p:cNvSpPr/>
          <p:nvPr/>
        </p:nvSpPr>
        <p:spPr>
          <a:xfrm>
            <a:off x="18516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Rectangle 541"/>
          <p:cNvSpPr/>
          <p:nvPr/>
        </p:nvSpPr>
        <p:spPr>
          <a:xfrm>
            <a:off x="192023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Rectangle 542"/>
          <p:cNvSpPr/>
          <p:nvPr/>
        </p:nvSpPr>
        <p:spPr>
          <a:xfrm>
            <a:off x="198881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Rectangle 543"/>
          <p:cNvSpPr/>
          <p:nvPr/>
        </p:nvSpPr>
        <p:spPr>
          <a:xfrm>
            <a:off x="20574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5" name="Rectangle 544"/>
          <p:cNvSpPr/>
          <p:nvPr/>
        </p:nvSpPr>
        <p:spPr>
          <a:xfrm>
            <a:off x="21259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Rectangle 545"/>
          <p:cNvSpPr/>
          <p:nvPr/>
        </p:nvSpPr>
        <p:spPr>
          <a:xfrm>
            <a:off x="21945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Rectangle 546"/>
          <p:cNvSpPr/>
          <p:nvPr/>
        </p:nvSpPr>
        <p:spPr>
          <a:xfrm>
            <a:off x="226313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Rectangle 547"/>
          <p:cNvSpPr/>
          <p:nvPr/>
        </p:nvSpPr>
        <p:spPr>
          <a:xfrm>
            <a:off x="2331720" y="335584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Rectangle 548"/>
          <p:cNvSpPr/>
          <p:nvPr/>
        </p:nvSpPr>
        <p:spPr>
          <a:xfrm>
            <a:off x="24003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Rectangle 549"/>
          <p:cNvSpPr/>
          <p:nvPr/>
        </p:nvSpPr>
        <p:spPr>
          <a:xfrm>
            <a:off x="24688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Rectangle 550"/>
          <p:cNvSpPr/>
          <p:nvPr/>
        </p:nvSpPr>
        <p:spPr>
          <a:xfrm>
            <a:off x="25374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Rectangle 551"/>
          <p:cNvSpPr/>
          <p:nvPr/>
        </p:nvSpPr>
        <p:spPr>
          <a:xfrm>
            <a:off x="26060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Rectangle 552"/>
          <p:cNvSpPr/>
          <p:nvPr/>
        </p:nvSpPr>
        <p:spPr>
          <a:xfrm>
            <a:off x="26746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Rectangle 553"/>
          <p:cNvSpPr/>
          <p:nvPr/>
        </p:nvSpPr>
        <p:spPr>
          <a:xfrm>
            <a:off x="27432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Rectangle 554"/>
          <p:cNvSpPr/>
          <p:nvPr/>
        </p:nvSpPr>
        <p:spPr>
          <a:xfrm>
            <a:off x="281177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Rectangle 555"/>
          <p:cNvSpPr/>
          <p:nvPr/>
        </p:nvSpPr>
        <p:spPr>
          <a:xfrm>
            <a:off x="28803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Rectangle 556"/>
          <p:cNvSpPr/>
          <p:nvPr/>
        </p:nvSpPr>
        <p:spPr>
          <a:xfrm>
            <a:off x="29489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Rectangle 557"/>
          <p:cNvSpPr/>
          <p:nvPr/>
        </p:nvSpPr>
        <p:spPr>
          <a:xfrm>
            <a:off x="30175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Rectangle 558"/>
          <p:cNvSpPr/>
          <p:nvPr/>
        </p:nvSpPr>
        <p:spPr>
          <a:xfrm>
            <a:off x="30861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Rectangle 559"/>
          <p:cNvSpPr/>
          <p:nvPr/>
        </p:nvSpPr>
        <p:spPr>
          <a:xfrm>
            <a:off x="315467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Rectangle 560"/>
          <p:cNvSpPr/>
          <p:nvPr/>
        </p:nvSpPr>
        <p:spPr>
          <a:xfrm>
            <a:off x="32232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Rectangle 561"/>
          <p:cNvSpPr/>
          <p:nvPr/>
        </p:nvSpPr>
        <p:spPr>
          <a:xfrm>
            <a:off x="32918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Rectangle 562"/>
          <p:cNvSpPr/>
          <p:nvPr/>
        </p:nvSpPr>
        <p:spPr>
          <a:xfrm>
            <a:off x="33604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Rectangle 563"/>
          <p:cNvSpPr/>
          <p:nvPr/>
        </p:nvSpPr>
        <p:spPr>
          <a:xfrm>
            <a:off x="34290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Rectangle 564"/>
          <p:cNvSpPr/>
          <p:nvPr/>
        </p:nvSpPr>
        <p:spPr>
          <a:xfrm>
            <a:off x="349757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Rectangle 565"/>
          <p:cNvSpPr/>
          <p:nvPr/>
        </p:nvSpPr>
        <p:spPr>
          <a:xfrm>
            <a:off x="35661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Rectangle 566"/>
          <p:cNvSpPr/>
          <p:nvPr/>
        </p:nvSpPr>
        <p:spPr>
          <a:xfrm>
            <a:off x="3634740" y="335584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Rectangle 567"/>
          <p:cNvSpPr/>
          <p:nvPr/>
        </p:nvSpPr>
        <p:spPr>
          <a:xfrm>
            <a:off x="37033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Rectangle 568"/>
          <p:cNvSpPr/>
          <p:nvPr/>
        </p:nvSpPr>
        <p:spPr>
          <a:xfrm>
            <a:off x="37719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Rectangle 569"/>
          <p:cNvSpPr/>
          <p:nvPr/>
        </p:nvSpPr>
        <p:spPr>
          <a:xfrm>
            <a:off x="384047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Rectangle 570"/>
          <p:cNvSpPr/>
          <p:nvPr/>
        </p:nvSpPr>
        <p:spPr>
          <a:xfrm>
            <a:off x="39090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Rectangle 571"/>
          <p:cNvSpPr/>
          <p:nvPr/>
        </p:nvSpPr>
        <p:spPr>
          <a:xfrm>
            <a:off x="397763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Rectangle 572"/>
          <p:cNvSpPr/>
          <p:nvPr/>
        </p:nvSpPr>
        <p:spPr>
          <a:xfrm>
            <a:off x="40462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Rectangle 573"/>
          <p:cNvSpPr/>
          <p:nvPr/>
        </p:nvSpPr>
        <p:spPr>
          <a:xfrm>
            <a:off x="41148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Rectangle 574"/>
          <p:cNvSpPr/>
          <p:nvPr/>
        </p:nvSpPr>
        <p:spPr>
          <a:xfrm>
            <a:off x="418337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Rectangle 575"/>
          <p:cNvSpPr/>
          <p:nvPr/>
        </p:nvSpPr>
        <p:spPr>
          <a:xfrm>
            <a:off x="425196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ectangle 576"/>
          <p:cNvSpPr/>
          <p:nvPr/>
        </p:nvSpPr>
        <p:spPr>
          <a:xfrm>
            <a:off x="43205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Rectangle 577"/>
          <p:cNvSpPr/>
          <p:nvPr/>
        </p:nvSpPr>
        <p:spPr>
          <a:xfrm>
            <a:off x="43891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578"/>
          <p:cNvSpPr/>
          <p:nvPr/>
        </p:nvSpPr>
        <p:spPr>
          <a:xfrm>
            <a:off x="44577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ectangle 579"/>
          <p:cNvSpPr/>
          <p:nvPr/>
        </p:nvSpPr>
        <p:spPr>
          <a:xfrm>
            <a:off x="45262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Rectangle 580"/>
          <p:cNvSpPr/>
          <p:nvPr/>
        </p:nvSpPr>
        <p:spPr>
          <a:xfrm>
            <a:off x="4594859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Rectangle 581"/>
          <p:cNvSpPr/>
          <p:nvPr/>
        </p:nvSpPr>
        <p:spPr>
          <a:xfrm>
            <a:off x="46634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Rectangle 582"/>
          <p:cNvSpPr/>
          <p:nvPr/>
        </p:nvSpPr>
        <p:spPr>
          <a:xfrm>
            <a:off x="473202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Rectangle 583"/>
          <p:cNvSpPr/>
          <p:nvPr/>
        </p:nvSpPr>
        <p:spPr>
          <a:xfrm>
            <a:off x="480060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Rectangle 584"/>
          <p:cNvSpPr/>
          <p:nvPr/>
        </p:nvSpPr>
        <p:spPr>
          <a:xfrm>
            <a:off x="486918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Rectangle 585"/>
          <p:cNvSpPr/>
          <p:nvPr/>
        </p:nvSpPr>
        <p:spPr>
          <a:xfrm>
            <a:off x="4937759" y="335584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5006340" y="335584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Rectangle 587"/>
          <p:cNvSpPr/>
          <p:nvPr/>
        </p:nvSpPr>
        <p:spPr>
          <a:xfrm>
            <a:off x="6858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/>
          <p:cNvSpPr/>
          <p:nvPr/>
        </p:nvSpPr>
        <p:spPr>
          <a:xfrm>
            <a:off x="7543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Rectangle 589"/>
          <p:cNvSpPr/>
          <p:nvPr/>
        </p:nvSpPr>
        <p:spPr>
          <a:xfrm>
            <a:off x="8229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Rectangle 590"/>
          <p:cNvSpPr/>
          <p:nvPr/>
        </p:nvSpPr>
        <p:spPr>
          <a:xfrm>
            <a:off x="8915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2" name="Rectangle 591"/>
          <p:cNvSpPr/>
          <p:nvPr/>
        </p:nvSpPr>
        <p:spPr>
          <a:xfrm>
            <a:off x="9601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Rectangle 592"/>
          <p:cNvSpPr/>
          <p:nvPr/>
        </p:nvSpPr>
        <p:spPr>
          <a:xfrm>
            <a:off x="10287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Rectangle 593"/>
          <p:cNvSpPr/>
          <p:nvPr/>
        </p:nvSpPr>
        <p:spPr>
          <a:xfrm>
            <a:off x="10972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Rectangle 594"/>
          <p:cNvSpPr/>
          <p:nvPr/>
        </p:nvSpPr>
        <p:spPr>
          <a:xfrm>
            <a:off x="11658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Rectangle 595"/>
          <p:cNvSpPr/>
          <p:nvPr/>
        </p:nvSpPr>
        <p:spPr>
          <a:xfrm>
            <a:off x="1234440" y="352958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Rectangle 596"/>
          <p:cNvSpPr/>
          <p:nvPr/>
        </p:nvSpPr>
        <p:spPr>
          <a:xfrm>
            <a:off x="130301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Rectangle 597"/>
          <p:cNvSpPr/>
          <p:nvPr/>
        </p:nvSpPr>
        <p:spPr>
          <a:xfrm>
            <a:off x="13716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Rectangle 598"/>
          <p:cNvSpPr/>
          <p:nvPr/>
        </p:nvSpPr>
        <p:spPr>
          <a:xfrm>
            <a:off x="14401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Rectangle 599"/>
          <p:cNvSpPr/>
          <p:nvPr/>
        </p:nvSpPr>
        <p:spPr>
          <a:xfrm>
            <a:off x="15087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Rectangle 600"/>
          <p:cNvSpPr/>
          <p:nvPr/>
        </p:nvSpPr>
        <p:spPr>
          <a:xfrm>
            <a:off x="15773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Rectangle 601"/>
          <p:cNvSpPr/>
          <p:nvPr/>
        </p:nvSpPr>
        <p:spPr>
          <a:xfrm>
            <a:off x="16459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Rectangle 602"/>
          <p:cNvSpPr/>
          <p:nvPr/>
        </p:nvSpPr>
        <p:spPr>
          <a:xfrm>
            <a:off x="17145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Rectangle 603"/>
          <p:cNvSpPr/>
          <p:nvPr/>
        </p:nvSpPr>
        <p:spPr>
          <a:xfrm>
            <a:off x="17830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Rectangle 604"/>
          <p:cNvSpPr/>
          <p:nvPr/>
        </p:nvSpPr>
        <p:spPr>
          <a:xfrm>
            <a:off x="18516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Rectangle 605"/>
          <p:cNvSpPr/>
          <p:nvPr/>
        </p:nvSpPr>
        <p:spPr>
          <a:xfrm>
            <a:off x="192023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Rectangle 606"/>
          <p:cNvSpPr/>
          <p:nvPr/>
        </p:nvSpPr>
        <p:spPr>
          <a:xfrm>
            <a:off x="198881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Rectangle 607"/>
          <p:cNvSpPr/>
          <p:nvPr/>
        </p:nvSpPr>
        <p:spPr>
          <a:xfrm>
            <a:off x="20574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Rectangle 608"/>
          <p:cNvSpPr/>
          <p:nvPr/>
        </p:nvSpPr>
        <p:spPr>
          <a:xfrm>
            <a:off x="21259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Rectangle 609"/>
          <p:cNvSpPr/>
          <p:nvPr/>
        </p:nvSpPr>
        <p:spPr>
          <a:xfrm>
            <a:off x="21945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Rectangle 610"/>
          <p:cNvSpPr/>
          <p:nvPr/>
        </p:nvSpPr>
        <p:spPr>
          <a:xfrm>
            <a:off x="226313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Rectangle 611"/>
          <p:cNvSpPr/>
          <p:nvPr/>
        </p:nvSpPr>
        <p:spPr>
          <a:xfrm>
            <a:off x="23317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Rectangle 612"/>
          <p:cNvSpPr/>
          <p:nvPr/>
        </p:nvSpPr>
        <p:spPr>
          <a:xfrm>
            <a:off x="24003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Rectangle 613"/>
          <p:cNvSpPr/>
          <p:nvPr/>
        </p:nvSpPr>
        <p:spPr>
          <a:xfrm>
            <a:off x="24688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Rectangle 614"/>
          <p:cNvSpPr/>
          <p:nvPr/>
        </p:nvSpPr>
        <p:spPr>
          <a:xfrm>
            <a:off x="2537460" y="352958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Rectangle 615"/>
          <p:cNvSpPr/>
          <p:nvPr/>
        </p:nvSpPr>
        <p:spPr>
          <a:xfrm>
            <a:off x="26060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Rectangle 616"/>
          <p:cNvSpPr/>
          <p:nvPr/>
        </p:nvSpPr>
        <p:spPr>
          <a:xfrm>
            <a:off x="26746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Rectangle 617"/>
          <p:cNvSpPr/>
          <p:nvPr/>
        </p:nvSpPr>
        <p:spPr>
          <a:xfrm>
            <a:off x="27432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Rectangle 618"/>
          <p:cNvSpPr/>
          <p:nvPr/>
        </p:nvSpPr>
        <p:spPr>
          <a:xfrm>
            <a:off x="281177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Rectangle 619"/>
          <p:cNvSpPr/>
          <p:nvPr/>
        </p:nvSpPr>
        <p:spPr>
          <a:xfrm>
            <a:off x="28803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Rectangle 620"/>
          <p:cNvSpPr/>
          <p:nvPr/>
        </p:nvSpPr>
        <p:spPr>
          <a:xfrm>
            <a:off x="29489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Rectangle 621"/>
          <p:cNvSpPr/>
          <p:nvPr/>
        </p:nvSpPr>
        <p:spPr>
          <a:xfrm>
            <a:off x="30175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Rectangle 622"/>
          <p:cNvSpPr/>
          <p:nvPr/>
        </p:nvSpPr>
        <p:spPr>
          <a:xfrm>
            <a:off x="30861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Rectangle 623"/>
          <p:cNvSpPr/>
          <p:nvPr/>
        </p:nvSpPr>
        <p:spPr>
          <a:xfrm>
            <a:off x="315467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5" name="Rectangle 624"/>
          <p:cNvSpPr/>
          <p:nvPr/>
        </p:nvSpPr>
        <p:spPr>
          <a:xfrm>
            <a:off x="32232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Rectangle 625"/>
          <p:cNvSpPr/>
          <p:nvPr/>
        </p:nvSpPr>
        <p:spPr>
          <a:xfrm>
            <a:off x="32918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ectangle 626"/>
          <p:cNvSpPr/>
          <p:nvPr/>
        </p:nvSpPr>
        <p:spPr>
          <a:xfrm>
            <a:off x="33604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/>
          <p:cNvSpPr/>
          <p:nvPr/>
        </p:nvSpPr>
        <p:spPr>
          <a:xfrm>
            <a:off x="34290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Rectangle 628"/>
          <p:cNvSpPr/>
          <p:nvPr/>
        </p:nvSpPr>
        <p:spPr>
          <a:xfrm>
            <a:off x="349757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Rectangle 629"/>
          <p:cNvSpPr/>
          <p:nvPr/>
        </p:nvSpPr>
        <p:spPr>
          <a:xfrm>
            <a:off x="35661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Rectangle 630"/>
          <p:cNvSpPr/>
          <p:nvPr/>
        </p:nvSpPr>
        <p:spPr>
          <a:xfrm>
            <a:off x="36347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Rectangle 631"/>
          <p:cNvSpPr/>
          <p:nvPr/>
        </p:nvSpPr>
        <p:spPr>
          <a:xfrm>
            <a:off x="37033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Rectangle 632"/>
          <p:cNvSpPr/>
          <p:nvPr/>
        </p:nvSpPr>
        <p:spPr>
          <a:xfrm>
            <a:off x="37719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Rectangle 633"/>
          <p:cNvSpPr/>
          <p:nvPr/>
        </p:nvSpPr>
        <p:spPr>
          <a:xfrm>
            <a:off x="3840479" y="352958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Rectangle 634"/>
          <p:cNvSpPr/>
          <p:nvPr/>
        </p:nvSpPr>
        <p:spPr>
          <a:xfrm>
            <a:off x="39090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Rectangle 635"/>
          <p:cNvSpPr/>
          <p:nvPr/>
        </p:nvSpPr>
        <p:spPr>
          <a:xfrm>
            <a:off x="397763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7" name="Rectangle 636"/>
          <p:cNvSpPr/>
          <p:nvPr/>
        </p:nvSpPr>
        <p:spPr>
          <a:xfrm>
            <a:off x="40462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Rectangle 637"/>
          <p:cNvSpPr/>
          <p:nvPr/>
        </p:nvSpPr>
        <p:spPr>
          <a:xfrm>
            <a:off x="41148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Rectangle 638"/>
          <p:cNvSpPr/>
          <p:nvPr/>
        </p:nvSpPr>
        <p:spPr>
          <a:xfrm>
            <a:off x="418337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Rectangle 639"/>
          <p:cNvSpPr/>
          <p:nvPr/>
        </p:nvSpPr>
        <p:spPr>
          <a:xfrm>
            <a:off x="425196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Rectangle 640"/>
          <p:cNvSpPr/>
          <p:nvPr/>
        </p:nvSpPr>
        <p:spPr>
          <a:xfrm>
            <a:off x="43205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Rectangle 641"/>
          <p:cNvSpPr/>
          <p:nvPr/>
        </p:nvSpPr>
        <p:spPr>
          <a:xfrm>
            <a:off x="43891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Rectangle 642"/>
          <p:cNvSpPr/>
          <p:nvPr/>
        </p:nvSpPr>
        <p:spPr>
          <a:xfrm>
            <a:off x="44577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Rectangle 643"/>
          <p:cNvSpPr/>
          <p:nvPr/>
        </p:nvSpPr>
        <p:spPr>
          <a:xfrm>
            <a:off x="45262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Rectangle 644"/>
          <p:cNvSpPr/>
          <p:nvPr/>
        </p:nvSpPr>
        <p:spPr>
          <a:xfrm>
            <a:off x="459485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Rectangle 645"/>
          <p:cNvSpPr/>
          <p:nvPr/>
        </p:nvSpPr>
        <p:spPr>
          <a:xfrm>
            <a:off x="46634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Rectangle 646"/>
          <p:cNvSpPr/>
          <p:nvPr/>
        </p:nvSpPr>
        <p:spPr>
          <a:xfrm>
            <a:off x="473202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Rectangle 647"/>
          <p:cNvSpPr/>
          <p:nvPr/>
        </p:nvSpPr>
        <p:spPr>
          <a:xfrm>
            <a:off x="480060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9" name="Rectangle 648"/>
          <p:cNvSpPr/>
          <p:nvPr/>
        </p:nvSpPr>
        <p:spPr>
          <a:xfrm>
            <a:off x="486918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Rectangle 649"/>
          <p:cNvSpPr/>
          <p:nvPr/>
        </p:nvSpPr>
        <p:spPr>
          <a:xfrm>
            <a:off x="4937759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Rectangle 650"/>
          <p:cNvSpPr/>
          <p:nvPr/>
        </p:nvSpPr>
        <p:spPr>
          <a:xfrm>
            <a:off x="5006340" y="352958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Rectangle 651"/>
          <p:cNvSpPr/>
          <p:nvPr/>
        </p:nvSpPr>
        <p:spPr>
          <a:xfrm>
            <a:off x="6858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Rectangle 652"/>
          <p:cNvSpPr/>
          <p:nvPr/>
        </p:nvSpPr>
        <p:spPr>
          <a:xfrm>
            <a:off x="7543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Rectangle 653"/>
          <p:cNvSpPr/>
          <p:nvPr/>
        </p:nvSpPr>
        <p:spPr>
          <a:xfrm>
            <a:off x="8229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5" name="Rectangle 654"/>
          <p:cNvSpPr/>
          <p:nvPr/>
        </p:nvSpPr>
        <p:spPr>
          <a:xfrm>
            <a:off x="8915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Rectangle 655"/>
          <p:cNvSpPr/>
          <p:nvPr/>
        </p:nvSpPr>
        <p:spPr>
          <a:xfrm>
            <a:off x="9601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Rectangle 656"/>
          <p:cNvSpPr/>
          <p:nvPr/>
        </p:nvSpPr>
        <p:spPr>
          <a:xfrm>
            <a:off x="10287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Rectangle 657"/>
          <p:cNvSpPr/>
          <p:nvPr/>
        </p:nvSpPr>
        <p:spPr>
          <a:xfrm>
            <a:off x="10972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Rectangle 658"/>
          <p:cNvSpPr/>
          <p:nvPr/>
        </p:nvSpPr>
        <p:spPr>
          <a:xfrm>
            <a:off x="11658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Rectangle 659"/>
          <p:cNvSpPr/>
          <p:nvPr/>
        </p:nvSpPr>
        <p:spPr>
          <a:xfrm>
            <a:off x="12344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Rectangle 660"/>
          <p:cNvSpPr/>
          <p:nvPr/>
        </p:nvSpPr>
        <p:spPr>
          <a:xfrm>
            <a:off x="130301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2" name="Rectangle 661"/>
          <p:cNvSpPr/>
          <p:nvPr/>
        </p:nvSpPr>
        <p:spPr>
          <a:xfrm>
            <a:off x="13716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Rectangle 662"/>
          <p:cNvSpPr/>
          <p:nvPr/>
        </p:nvSpPr>
        <p:spPr>
          <a:xfrm>
            <a:off x="1440180" y="370332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Rectangle 663"/>
          <p:cNvSpPr/>
          <p:nvPr/>
        </p:nvSpPr>
        <p:spPr>
          <a:xfrm>
            <a:off x="15087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Rectangle 664"/>
          <p:cNvSpPr/>
          <p:nvPr/>
        </p:nvSpPr>
        <p:spPr>
          <a:xfrm>
            <a:off x="15773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6" name="Rectangle 665"/>
          <p:cNvSpPr/>
          <p:nvPr/>
        </p:nvSpPr>
        <p:spPr>
          <a:xfrm>
            <a:off x="16459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7" name="Rectangle 666"/>
          <p:cNvSpPr/>
          <p:nvPr/>
        </p:nvSpPr>
        <p:spPr>
          <a:xfrm>
            <a:off x="17145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Rectangle 667"/>
          <p:cNvSpPr/>
          <p:nvPr/>
        </p:nvSpPr>
        <p:spPr>
          <a:xfrm>
            <a:off x="17830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9" name="Rectangle 668"/>
          <p:cNvSpPr/>
          <p:nvPr/>
        </p:nvSpPr>
        <p:spPr>
          <a:xfrm>
            <a:off x="18516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Rectangle 669"/>
          <p:cNvSpPr/>
          <p:nvPr/>
        </p:nvSpPr>
        <p:spPr>
          <a:xfrm>
            <a:off x="192023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Rectangle 670"/>
          <p:cNvSpPr/>
          <p:nvPr/>
        </p:nvSpPr>
        <p:spPr>
          <a:xfrm>
            <a:off x="198881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Rectangle 671"/>
          <p:cNvSpPr/>
          <p:nvPr/>
        </p:nvSpPr>
        <p:spPr>
          <a:xfrm>
            <a:off x="20574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Rectangle 672"/>
          <p:cNvSpPr/>
          <p:nvPr/>
        </p:nvSpPr>
        <p:spPr>
          <a:xfrm>
            <a:off x="21259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4" name="Rectangle 673"/>
          <p:cNvSpPr/>
          <p:nvPr/>
        </p:nvSpPr>
        <p:spPr>
          <a:xfrm>
            <a:off x="21945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Rectangle 674"/>
          <p:cNvSpPr/>
          <p:nvPr/>
        </p:nvSpPr>
        <p:spPr>
          <a:xfrm>
            <a:off x="226313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Rectangle 675"/>
          <p:cNvSpPr/>
          <p:nvPr/>
        </p:nvSpPr>
        <p:spPr>
          <a:xfrm>
            <a:off x="23317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Rectangle 676"/>
          <p:cNvSpPr/>
          <p:nvPr/>
        </p:nvSpPr>
        <p:spPr>
          <a:xfrm>
            <a:off x="24003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Rectangle 677"/>
          <p:cNvSpPr/>
          <p:nvPr/>
        </p:nvSpPr>
        <p:spPr>
          <a:xfrm>
            <a:off x="24688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9" name="Rectangle 678"/>
          <p:cNvSpPr/>
          <p:nvPr/>
        </p:nvSpPr>
        <p:spPr>
          <a:xfrm>
            <a:off x="25374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Rectangle 679"/>
          <p:cNvSpPr/>
          <p:nvPr/>
        </p:nvSpPr>
        <p:spPr>
          <a:xfrm>
            <a:off x="26060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1" name="Rectangle 680"/>
          <p:cNvSpPr/>
          <p:nvPr/>
        </p:nvSpPr>
        <p:spPr>
          <a:xfrm>
            <a:off x="26746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2" name="Rectangle 681"/>
          <p:cNvSpPr/>
          <p:nvPr/>
        </p:nvSpPr>
        <p:spPr>
          <a:xfrm>
            <a:off x="2743200" y="370332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Rectangle 682"/>
          <p:cNvSpPr/>
          <p:nvPr/>
        </p:nvSpPr>
        <p:spPr>
          <a:xfrm>
            <a:off x="281177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Rectangle 683"/>
          <p:cNvSpPr/>
          <p:nvPr/>
        </p:nvSpPr>
        <p:spPr>
          <a:xfrm>
            <a:off x="28803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Rectangle 684"/>
          <p:cNvSpPr/>
          <p:nvPr/>
        </p:nvSpPr>
        <p:spPr>
          <a:xfrm>
            <a:off x="29489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Rectangle 685"/>
          <p:cNvSpPr/>
          <p:nvPr/>
        </p:nvSpPr>
        <p:spPr>
          <a:xfrm>
            <a:off x="30175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7" name="Rectangle 686"/>
          <p:cNvSpPr/>
          <p:nvPr/>
        </p:nvSpPr>
        <p:spPr>
          <a:xfrm>
            <a:off x="30861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Rectangle 687"/>
          <p:cNvSpPr/>
          <p:nvPr/>
        </p:nvSpPr>
        <p:spPr>
          <a:xfrm>
            <a:off x="315467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9" name="Rectangle 688"/>
          <p:cNvSpPr/>
          <p:nvPr/>
        </p:nvSpPr>
        <p:spPr>
          <a:xfrm>
            <a:off x="32232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0" name="Rectangle 689"/>
          <p:cNvSpPr/>
          <p:nvPr/>
        </p:nvSpPr>
        <p:spPr>
          <a:xfrm>
            <a:off x="32918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1" name="Rectangle 690"/>
          <p:cNvSpPr/>
          <p:nvPr/>
        </p:nvSpPr>
        <p:spPr>
          <a:xfrm>
            <a:off x="33604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/>
          <p:cNvSpPr/>
          <p:nvPr/>
        </p:nvSpPr>
        <p:spPr>
          <a:xfrm>
            <a:off x="34290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Rectangle 692"/>
          <p:cNvSpPr/>
          <p:nvPr/>
        </p:nvSpPr>
        <p:spPr>
          <a:xfrm>
            <a:off x="349757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Rectangle 693"/>
          <p:cNvSpPr/>
          <p:nvPr/>
        </p:nvSpPr>
        <p:spPr>
          <a:xfrm>
            <a:off x="35661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5" name="Rectangle 694"/>
          <p:cNvSpPr/>
          <p:nvPr/>
        </p:nvSpPr>
        <p:spPr>
          <a:xfrm>
            <a:off x="36347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Rectangle 695"/>
          <p:cNvSpPr/>
          <p:nvPr/>
        </p:nvSpPr>
        <p:spPr>
          <a:xfrm>
            <a:off x="37033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7" name="Rectangle 696"/>
          <p:cNvSpPr/>
          <p:nvPr/>
        </p:nvSpPr>
        <p:spPr>
          <a:xfrm>
            <a:off x="37719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Rectangle 697"/>
          <p:cNvSpPr/>
          <p:nvPr/>
        </p:nvSpPr>
        <p:spPr>
          <a:xfrm>
            <a:off x="384047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9" name="Rectangle 698"/>
          <p:cNvSpPr/>
          <p:nvPr/>
        </p:nvSpPr>
        <p:spPr>
          <a:xfrm>
            <a:off x="39090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Rectangle 699"/>
          <p:cNvSpPr/>
          <p:nvPr/>
        </p:nvSpPr>
        <p:spPr>
          <a:xfrm>
            <a:off x="397763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Rectangle 700"/>
          <p:cNvSpPr/>
          <p:nvPr/>
        </p:nvSpPr>
        <p:spPr>
          <a:xfrm>
            <a:off x="4046220" y="370332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Rectangle 701"/>
          <p:cNvSpPr/>
          <p:nvPr/>
        </p:nvSpPr>
        <p:spPr>
          <a:xfrm>
            <a:off x="41148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Rectangle 702"/>
          <p:cNvSpPr/>
          <p:nvPr/>
        </p:nvSpPr>
        <p:spPr>
          <a:xfrm>
            <a:off x="418337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4" name="Rectangle 703"/>
          <p:cNvSpPr/>
          <p:nvPr/>
        </p:nvSpPr>
        <p:spPr>
          <a:xfrm>
            <a:off x="425196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Rectangle 704"/>
          <p:cNvSpPr/>
          <p:nvPr/>
        </p:nvSpPr>
        <p:spPr>
          <a:xfrm>
            <a:off x="43205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6" name="Rectangle 705"/>
          <p:cNvSpPr/>
          <p:nvPr/>
        </p:nvSpPr>
        <p:spPr>
          <a:xfrm>
            <a:off x="43891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Rectangle 706"/>
          <p:cNvSpPr/>
          <p:nvPr/>
        </p:nvSpPr>
        <p:spPr>
          <a:xfrm>
            <a:off x="44577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Rectangle 707"/>
          <p:cNvSpPr/>
          <p:nvPr/>
        </p:nvSpPr>
        <p:spPr>
          <a:xfrm>
            <a:off x="45262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9" name="Rectangle 708"/>
          <p:cNvSpPr/>
          <p:nvPr/>
        </p:nvSpPr>
        <p:spPr>
          <a:xfrm>
            <a:off x="459485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Rectangle 709"/>
          <p:cNvSpPr/>
          <p:nvPr/>
        </p:nvSpPr>
        <p:spPr>
          <a:xfrm>
            <a:off x="46634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1" name="Rectangle 710"/>
          <p:cNvSpPr/>
          <p:nvPr/>
        </p:nvSpPr>
        <p:spPr>
          <a:xfrm>
            <a:off x="473202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Rectangle 711"/>
          <p:cNvSpPr/>
          <p:nvPr/>
        </p:nvSpPr>
        <p:spPr>
          <a:xfrm>
            <a:off x="480060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Rectangle 712"/>
          <p:cNvSpPr/>
          <p:nvPr/>
        </p:nvSpPr>
        <p:spPr>
          <a:xfrm>
            <a:off x="486918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Rectangle 713"/>
          <p:cNvSpPr/>
          <p:nvPr/>
        </p:nvSpPr>
        <p:spPr>
          <a:xfrm>
            <a:off x="4937759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Rectangle 714"/>
          <p:cNvSpPr/>
          <p:nvPr/>
        </p:nvSpPr>
        <p:spPr>
          <a:xfrm>
            <a:off x="5006340" y="370332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Rectangle 715"/>
          <p:cNvSpPr/>
          <p:nvPr/>
        </p:nvSpPr>
        <p:spPr>
          <a:xfrm>
            <a:off x="6858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Rectangle 716"/>
          <p:cNvSpPr/>
          <p:nvPr/>
        </p:nvSpPr>
        <p:spPr>
          <a:xfrm>
            <a:off x="7543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Rectangle 717"/>
          <p:cNvSpPr/>
          <p:nvPr/>
        </p:nvSpPr>
        <p:spPr>
          <a:xfrm>
            <a:off x="8229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Rectangle 718"/>
          <p:cNvSpPr/>
          <p:nvPr/>
        </p:nvSpPr>
        <p:spPr>
          <a:xfrm>
            <a:off x="8915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Rectangle 719"/>
          <p:cNvSpPr/>
          <p:nvPr/>
        </p:nvSpPr>
        <p:spPr>
          <a:xfrm>
            <a:off x="9601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1" name="Rectangle 720"/>
          <p:cNvSpPr/>
          <p:nvPr/>
        </p:nvSpPr>
        <p:spPr>
          <a:xfrm>
            <a:off x="10287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2" name="Rectangle 721"/>
          <p:cNvSpPr/>
          <p:nvPr/>
        </p:nvSpPr>
        <p:spPr>
          <a:xfrm>
            <a:off x="10972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Rectangle 722"/>
          <p:cNvSpPr/>
          <p:nvPr/>
        </p:nvSpPr>
        <p:spPr>
          <a:xfrm>
            <a:off x="11658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Rectangle 723"/>
          <p:cNvSpPr/>
          <p:nvPr/>
        </p:nvSpPr>
        <p:spPr>
          <a:xfrm>
            <a:off x="12344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5" name="Rectangle 724"/>
          <p:cNvSpPr/>
          <p:nvPr/>
        </p:nvSpPr>
        <p:spPr>
          <a:xfrm>
            <a:off x="130301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Rectangle 725"/>
          <p:cNvSpPr/>
          <p:nvPr/>
        </p:nvSpPr>
        <p:spPr>
          <a:xfrm>
            <a:off x="13716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Rectangle 726"/>
          <p:cNvSpPr/>
          <p:nvPr/>
        </p:nvSpPr>
        <p:spPr>
          <a:xfrm>
            <a:off x="14401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Rectangle 727"/>
          <p:cNvSpPr/>
          <p:nvPr/>
        </p:nvSpPr>
        <p:spPr>
          <a:xfrm>
            <a:off x="15087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Rectangle 728"/>
          <p:cNvSpPr/>
          <p:nvPr/>
        </p:nvSpPr>
        <p:spPr>
          <a:xfrm>
            <a:off x="15773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Rectangle 729"/>
          <p:cNvSpPr/>
          <p:nvPr/>
        </p:nvSpPr>
        <p:spPr>
          <a:xfrm>
            <a:off x="1645920" y="387705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Rectangle 730"/>
          <p:cNvSpPr/>
          <p:nvPr/>
        </p:nvSpPr>
        <p:spPr>
          <a:xfrm>
            <a:off x="17145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Rectangle 731"/>
          <p:cNvSpPr/>
          <p:nvPr/>
        </p:nvSpPr>
        <p:spPr>
          <a:xfrm>
            <a:off x="17830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Rectangle 732"/>
          <p:cNvSpPr/>
          <p:nvPr/>
        </p:nvSpPr>
        <p:spPr>
          <a:xfrm>
            <a:off x="18516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Rectangle 733"/>
          <p:cNvSpPr/>
          <p:nvPr/>
        </p:nvSpPr>
        <p:spPr>
          <a:xfrm>
            <a:off x="192023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5" name="Rectangle 734"/>
          <p:cNvSpPr/>
          <p:nvPr/>
        </p:nvSpPr>
        <p:spPr>
          <a:xfrm>
            <a:off x="198881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Rectangle 735"/>
          <p:cNvSpPr/>
          <p:nvPr/>
        </p:nvSpPr>
        <p:spPr>
          <a:xfrm>
            <a:off x="20574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Rectangle 736"/>
          <p:cNvSpPr/>
          <p:nvPr/>
        </p:nvSpPr>
        <p:spPr>
          <a:xfrm>
            <a:off x="21259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Rectangle 737"/>
          <p:cNvSpPr/>
          <p:nvPr/>
        </p:nvSpPr>
        <p:spPr>
          <a:xfrm>
            <a:off x="21945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ctangle 738"/>
          <p:cNvSpPr/>
          <p:nvPr/>
        </p:nvSpPr>
        <p:spPr>
          <a:xfrm>
            <a:off x="226313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Rectangle 739"/>
          <p:cNvSpPr/>
          <p:nvPr/>
        </p:nvSpPr>
        <p:spPr>
          <a:xfrm>
            <a:off x="23317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Rectangle 740"/>
          <p:cNvSpPr/>
          <p:nvPr/>
        </p:nvSpPr>
        <p:spPr>
          <a:xfrm>
            <a:off x="24003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Rectangle 741"/>
          <p:cNvSpPr/>
          <p:nvPr/>
        </p:nvSpPr>
        <p:spPr>
          <a:xfrm>
            <a:off x="24688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Rectangle 742"/>
          <p:cNvSpPr/>
          <p:nvPr/>
        </p:nvSpPr>
        <p:spPr>
          <a:xfrm>
            <a:off x="25374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Rectangle 743"/>
          <p:cNvSpPr/>
          <p:nvPr/>
        </p:nvSpPr>
        <p:spPr>
          <a:xfrm>
            <a:off x="26060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5" name="Rectangle 744"/>
          <p:cNvSpPr/>
          <p:nvPr/>
        </p:nvSpPr>
        <p:spPr>
          <a:xfrm>
            <a:off x="26746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6" name="Rectangle 745"/>
          <p:cNvSpPr/>
          <p:nvPr/>
        </p:nvSpPr>
        <p:spPr>
          <a:xfrm>
            <a:off x="27432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7" name="Rectangle 746"/>
          <p:cNvSpPr/>
          <p:nvPr/>
        </p:nvSpPr>
        <p:spPr>
          <a:xfrm>
            <a:off x="281177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8" name="Rectangle 747"/>
          <p:cNvSpPr/>
          <p:nvPr/>
        </p:nvSpPr>
        <p:spPr>
          <a:xfrm>
            <a:off x="28803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9" name="Rectangle 748"/>
          <p:cNvSpPr/>
          <p:nvPr/>
        </p:nvSpPr>
        <p:spPr>
          <a:xfrm>
            <a:off x="2948940" y="387705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0" name="Rectangle 749"/>
          <p:cNvSpPr/>
          <p:nvPr/>
        </p:nvSpPr>
        <p:spPr>
          <a:xfrm>
            <a:off x="30175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1" name="Rectangle 750"/>
          <p:cNvSpPr/>
          <p:nvPr/>
        </p:nvSpPr>
        <p:spPr>
          <a:xfrm>
            <a:off x="30861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2" name="Rectangle 751"/>
          <p:cNvSpPr/>
          <p:nvPr/>
        </p:nvSpPr>
        <p:spPr>
          <a:xfrm>
            <a:off x="315467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3" name="Rectangle 752"/>
          <p:cNvSpPr/>
          <p:nvPr/>
        </p:nvSpPr>
        <p:spPr>
          <a:xfrm>
            <a:off x="32232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4" name="Rectangle 753"/>
          <p:cNvSpPr/>
          <p:nvPr/>
        </p:nvSpPr>
        <p:spPr>
          <a:xfrm>
            <a:off x="32918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5" name="Rectangle 754"/>
          <p:cNvSpPr/>
          <p:nvPr/>
        </p:nvSpPr>
        <p:spPr>
          <a:xfrm>
            <a:off x="33604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/>
          <p:cNvSpPr/>
          <p:nvPr/>
        </p:nvSpPr>
        <p:spPr>
          <a:xfrm>
            <a:off x="34290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Rectangle 756"/>
          <p:cNvSpPr/>
          <p:nvPr/>
        </p:nvSpPr>
        <p:spPr>
          <a:xfrm>
            <a:off x="349757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8" name="Rectangle 757"/>
          <p:cNvSpPr/>
          <p:nvPr/>
        </p:nvSpPr>
        <p:spPr>
          <a:xfrm>
            <a:off x="35661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9" name="Rectangle 758"/>
          <p:cNvSpPr/>
          <p:nvPr/>
        </p:nvSpPr>
        <p:spPr>
          <a:xfrm>
            <a:off x="36347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0" name="Rectangle 759"/>
          <p:cNvSpPr/>
          <p:nvPr/>
        </p:nvSpPr>
        <p:spPr>
          <a:xfrm>
            <a:off x="37033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1" name="Rectangle 760"/>
          <p:cNvSpPr/>
          <p:nvPr/>
        </p:nvSpPr>
        <p:spPr>
          <a:xfrm>
            <a:off x="37719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2" name="Rectangle 761"/>
          <p:cNvSpPr/>
          <p:nvPr/>
        </p:nvSpPr>
        <p:spPr>
          <a:xfrm>
            <a:off x="384047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3" name="Rectangle 762"/>
          <p:cNvSpPr/>
          <p:nvPr/>
        </p:nvSpPr>
        <p:spPr>
          <a:xfrm>
            <a:off x="390906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4" name="Rectangle 763"/>
          <p:cNvSpPr/>
          <p:nvPr/>
        </p:nvSpPr>
        <p:spPr>
          <a:xfrm>
            <a:off x="397763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5" name="Rectangle 764"/>
          <p:cNvSpPr/>
          <p:nvPr/>
        </p:nvSpPr>
        <p:spPr>
          <a:xfrm>
            <a:off x="40462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6" name="Rectangle 765"/>
          <p:cNvSpPr/>
          <p:nvPr/>
        </p:nvSpPr>
        <p:spPr>
          <a:xfrm>
            <a:off x="41148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7" name="Rectangle 766"/>
          <p:cNvSpPr/>
          <p:nvPr/>
        </p:nvSpPr>
        <p:spPr>
          <a:xfrm>
            <a:off x="418337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8" name="Rectangle 767"/>
          <p:cNvSpPr/>
          <p:nvPr/>
        </p:nvSpPr>
        <p:spPr>
          <a:xfrm>
            <a:off x="4251960" y="3877056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9" name="Rectangle 768"/>
          <p:cNvSpPr/>
          <p:nvPr/>
        </p:nvSpPr>
        <p:spPr>
          <a:xfrm>
            <a:off x="43205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0" name="Rectangle 769"/>
          <p:cNvSpPr/>
          <p:nvPr/>
        </p:nvSpPr>
        <p:spPr>
          <a:xfrm>
            <a:off x="43891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1" name="Rectangle 770"/>
          <p:cNvSpPr/>
          <p:nvPr/>
        </p:nvSpPr>
        <p:spPr>
          <a:xfrm>
            <a:off x="44577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2" name="Rectangle 771"/>
          <p:cNvSpPr/>
          <p:nvPr/>
        </p:nvSpPr>
        <p:spPr>
          <a:xfrm>
            <a:off x="45262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3" name="Rectangle 772"/>
          <p:cNvSpPr/>
          <p:nvPr/>
        </p:nvSpPr>
        <p:spPr>
          <a:xfrm>
            <a:off x="459485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4" name="Rectangle 773"/>
          <p:cNvSpPr/>
          <p:nvPr/>
        </p:nvSpPr>
        <p:spPr>
          <a:xfrm>
            <a:off x="46634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5" name="Rectangle 774"/>
          <p:cNvSpPr/>
          <p:nvPr/>
        </p:nvSpPr>
        <p:spPr>
          <a:xfrm>
            <a:off x="473202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6" name="Rectangle 775"/>
          <p:cNvSpPr/>
          <p:nvPr/>
        </p:nvSpPr>
        <p:spPr>
          <a:xfrm>
            <a:off x="480060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7" name="Rectangle 776"/>
          <p:cNvSpPr/>
          <p:nvPr/>
        </p:nvSpPr>
        <p:spPr>
          <a:xfrm>
            <a:off x="486918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8" name="Rectangle 777"/>
          <p:cNvSpPr/>
          <p:nvPr/>
        </p:nvSpPr>
        <p:spPr>
          <a:xfrm>
            <a:off x="4937759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9" name="Rectangle 778"/>
          <p:cNvSpPr/>
          <p:nvPr/>
        </p:nvSpPr>
        <p:spPr>
          <a:xfrm>
            <a:off x="5006340" y="3877056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0" name="Rectangle 779"/>
          <p:cNvSpPr/>
          <p:nvPr/>
        </p:nvSpPr>
        <p:spPr>
          <a:xfrm>
            <a:off x="6858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1" name="Rectangle 780"/>
          <p:cNvSpPr/>
          <p:nvPr/>
        </p:nvSpPr>
        <p:spPr>
          <a:xfrm>
            <a:off x="7543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2" name="Rectangle 781"/>
          <p:cNvSpPr/>
          <p:nvPr/>
        </p:nvSpPr>
        <p:spPr>
          <a:xfrm>
            <a:off x="8229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3" name="Rectangle 782"/>
          <p:cNvSpPr/>
          <p:nvPr/>
        </p:nvSpPr>
        <p:spPr>
          <a:xfrm>
            <a:off x="8915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4" name="Rectangle 783"/>
          <p:cNvSpPr/>
          <p:nvPr/>
        </p:nvSpPr>
        <p:spPr>
          <a:xfrm>
            <a:off x="9601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5" name="Rectangle 784"/>
          <p:cNvSpPr/>
          <p:nvPr/>
        </p:nvSpPr>
        <p:spPr>
          <a:xfrm>
            <a:off x="10287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6" name="Rectangle 785"/>
          <p:cNvSpPr/>
          <p:nvPr/>
        </p:nvSpPr>
        <p:spPr>
          <a:xfrm>
            <a:off x="10972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7" name="Rectangle 786"/>
          <p:cNvSpPr/>
          <p:nvPr/>
        </p:nvSpPr>
        <p:spPr>
          <a:xfrm>
            <a:off x="11658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8" name="Rectangle 787"/>
          <p:cNvSpPr/>
          <p:nvPr/>
        </p:nvSpPr>
        <p:spPr>
          <a:xfrm>
            <a:off x="12344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9" name="Rectangle 788"/>
          <p:cNvSpPr/>
          <p:nvPr/>
        </p:nvSpPr>
        <p:spPr>
          <a:xfrm>
            <a:off x="130301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0" name="Rectangle 789"/>
          <p:cNvSpPr/>
          <p:nvPr/>
        </p:nvSpPr>
        <p:spPr>
          <a:xfrm>
            <a:off x="13716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1" name="Rectangle 790"/>
          <p:cNvSpPr/>
          <p:nvPr/>
        </p:nvSpPr>
        <p:spPr>
          <a:xfrm>
            <a:off x="14401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2" name="Rectangle 791"/>
          <p:cNvSpPr/>
          <p:nvPr/>
        </p:nvSpPr>
        <p:spPr>
          <a:xfrm>
            <a:off x="15087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3" name="Rectangle 792"/>
          <p:cNvSpPr/>
          <p:nvPr/>
        </p:nvSpPr>
        <p:spPr>
          <a:xfrm>
            <a:off x="15773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4" name="Rectangle 793"/>
          <p:cNvSpPr/>
          <p:nvPr/>
        </p:nvSpPr>
        <p:spPr>
          <a:xfrm>
            <a:off x="16459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5" name="Rectangle 794"/>
          <p:cNvSpPr/>
          <p:nvPr/>
        </p:nvSpPr>
        <p:spPr>
          <a:xfrm>
            <a:off x="17145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6" name="Rectangle 795"/>
          <p:cNvSpPr/>
          <p:nvPr/>
        </p:nvSpPr>
        <p:spPr>
          <a:xfrm>
            <a:off x="17830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7" name="Rectangle 796"/>
          <p:cNvSpPr/>
          <p:nvPr/>
        </p:nvSpPr>
        <p:spPr>
          <a:xfrm>
            <a:off x="1851660" y="4050791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8" name="Rectangle 797"/>
          <p:cNvSpPr/>
          <p:nvPr/>
        </p:nvSpPr>
        <p:spPr>
          <a:xfrm>
            <a:off x="192023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Rectangle 798"/>
          <p:cNvSpPr/>
          <p:nvPr/>
        </p:nvSpPr>
        <p:spPr>
          <a:xfrm>
            <a:off x="198881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Rectangle 799"/>
          <p:cNvSpPr/>
          <p:nvPr/>
        </p:nvSpPr>
        <p:spPr>
          <a:xfrm>
            <a:off x="20574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1" name="Rectangle 800"/>
          <p:cNvSpPr/>
          <p:nvPr/>
        </p:nvSpPr>
        <p:spPr>
          <a:xfrm>
            <a:off x="21259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2" name="Rectangle 801"/>
          <p:cNvSpPr/>
          <p:nvPr/>
        </p:nvSpPr>
        <p:spPr>
          <a:xfrm>
            <a:off x="21945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3" name="Rectangle 802"/>
          <p:cNvSpPr/>
          <p:nvPr/>
        </p:nvSpPr>
        <p:spPr>
          <a:xfrm>
            <a:off x="226313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4" name="Rectangle 803"/>
          <p:cNvSpPr/>
          <p:nvPr/>
        </p:nvSpPr>
        <p:spPr>
          <a:xfrm>
            <a:off x="23317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5" name="Rectangle 804"/>
          <p:cNvSpPr/>
          <p:nvPr/>
        </p:nvSpPr>
        <p:spPr>
          <a:xfrm>
            <a:off x="24003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6" name="Rectangle 805"/>
          <p:cNvSpPr/>
          <p:nvPr/>
        </p:nvSpPr>
        <p:spPr>
          <a:xfrm>
            <a:off x="24688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7" name="Rectangle 806"/>
          <p:cNvSpPr/>
          <p:nvPr/>
        </p:nvSpPr>
        <p:spPr>
          <a:xfrm>
            <a:off x="25374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ectangle 807"/>
          <p:cNvSpPr/>
          <p:nvPr/>
        </p:nvSpPr>
        <p:spPr>
          <a:xfrm>
            <a:off x="26060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ectangle 808"/>
          <p:cNvSpPr/>
          <p:nvPr/>
        </p:nvSpPr>
        <p:spPr>
          <a:xfrm>
            <a:off x="26746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0" name="Rectangle 809"/>
          <p:cNvSpPr/>
          <p:nvPr/>
        </p:nvSpPr>
        <p:spPr>
          <a:xfrm>
            <a:off x="27432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1" name="Rectangle 810"/>
          <p:cNvSpPr/>
          <p:nvPr/>
        </p:nvSpPr>
        <p:spPr>
          <a:xfrm>
            <a:off x="281177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2" name="Rectangle 811"/>
          <p:cNvSpPr/>
          <p:nvPr/>
        </p:nvSpPr>
        <p:spPr>
          <a:xfrm>
            <a:off x="28803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3" name="Rectangle 812"/>
          <p:cNvSpPr/>
          <p:nvPr/>
        </p:nvSpPr>
        <p:spPr>
          <a:xfrm>
            <a:off x="29489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4" name="Rectangle 813"/>
          <p:cNvSpPr/>
          <p:nvPr/>
        </p:nvSpPr>
        <p:spPr>
          <a:xfrm>
            <a:off x="30175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5" name="Rectangle 814"/>
          <p:cNvSpPr/>
          <p:nvPr/>
        </p:nvSpPr>
        <p:spPr>
          <a:xfrm>
            <a:off x="30861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6" name="Rectangle 815"/>
          <p:cNvSpPr/>
          <p:nvPr/>
        </p:nvSpPr>
        <p:spPr>
          <a:xfrm>
            <a:off x="3154679" y="4050791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7" name="Rectangle 816"/>
          <p:cNvSpPr/>
          <p:nvPr/>
        </p:nvSpPr>
        <p:spPr>
          <a:xfrm>
            <a:off x="32232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8" name="Rectangle 817"/>
          <p:cNvSpPr/>
          <p:nvPr/>
        </p:nvSpPr>
        <p:spPr>
          <a:xfrm>
            <a:off x="32918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ctangle 818"/>
          <p:cNvSpPr/>
          <p:nvPr/>
        </p:nvSpPr>
        <p:spPr>
          <a:xfrm>
            <a:off x="33604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Rectangle 819"/>
          <p:cNvSpPr/>
          <p:nvPr/>
        </p:nvSpPr>
        <p:spPr>
          <a:xfrm>
            <a:off x="34290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1" name="Rectangle 820"/>
          <p:cNvSpPr/>
          <p:nvPr/>
        </p:nvSpPr>
        <p:spPr>
          <a:xfrm>
            <a:off x="349757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2" name="Rectangle 821"/>
          <p:cNvSpPr/>
          <p:nvPr/>
        </p:nvSpPr>
        <p:spPr>
          <a:xfrm>
            <a:off x="35661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3" name="Rectangle 822"/>
          <p:cNvSpPr/>
          <p:nvPr/>
        </p:nvSpPr>
        <p:spPr>
          <a:xfrm>
            <a:off x="36347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4" name="Rectangle 823"/>
          <p:cNvSpPr/>
          <p:nvPr/>
        </p:nvSpPr>
        <p:spPr>
          <a:xfrm>
            <a:off x="37033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5" name="Rectangle 824"/>
          <p:cNvSpPr/>
          <p:nvPr/>
        </p:nvSpPr>
        <p:spPr>
          <a:xfrm>
            <a:off x="37719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6" name="Rectangle 825"/>
          <p:cNvSpPr/>
          <p:nvPr/>
        </p:nvSpPr>
        <p:spPr>
          <a:xfrm>
            <a:off x="384047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7" name="Rectangle 826"/>
          <p:cNvSpPr/>
          <p:nvPr/>
        </p:nvSpPr>
        <p:spPr>
          <a:xfrm>
            <a:off x="39090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8" name="Rectangle 827"/>
          <p:cNvSpPr/>
          <p:nvPr/>
        </p:nvSpPr>
        <p:spPr>
          <a:xfrm>
            <a:off x="397763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9" name="Rectangle 828"/>
          <p:cNvSpPr/>
          <p:nvPr/>
        </p:nvSpPr>
        <p:spPr>
          <a:xfrm>
            <a:off x="40462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0" name="Rectangle 829"/>
          <p:cNvSpPr/>
          <p:nvPr/>
        </p:nvSpPr>
        <p:spPr>
          <a:xfrm>
            <a:off x="41148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1" name="Rectangle 830"/>
          <p:cNvSpPr/>
          <p:nvPr/>
        </p:nvSpPr>
        <p:spPr>
          <a:xfrm>
            <a:off x="418337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2" name="Rectangle 831"/>
          <p:cNvSpPr/>
          <p:nvPr/>
        </p:nvSpPr>
        <p:spPr>
          <a:xfrm>
            <a:off x="425196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Rectangle 832"/>
          <p:cNvSpPr/>
          <p:nvPr/>
        </p:nvSpPr>
        <p:spPr>
          <a:xfrm>
            <a:off x="43205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Rectangle 833"/>
          <p:cNvSpPr/>
          <p:nvPr/>
        </p:nvSpPr>
        <p:spPr>
          <a:xfrm>
            <a:off x="43891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5" name="Rectangle 834"/>
          <p:cNvSpPr/>
          <p:nvPr/>
        </p:nvSpPr>
        <p:spPr>
          <a:xfrm>
            <a:off x="4457700" y="4050791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6" name="Rectangle 835"/>
          <p:cNvSpPr/>
          <p:nvPr/>
        </p:nvSpPr>
        <p:spPr>
          <a:xfrm>
            <a:off x="45262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7" name="Rectangle 836"/>
          <p:cNvSpPr/>
          <p:nvPr/>
        </p:nvSpPr>
        <p:spPr>
          <a:xfrm>
            <a:off x="459485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8" name="Rectangle 837"/>
          <p:cNvSpPr/>
          <p:nvPr/>
        </p:nvSpPr>
        <p:spPr>
          <a:xfrm>
            <a:off x="46634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9" name="Rectangle 838"/>
          <p:cNvSpPr/>
          <p:nvPr/>
        </p:nvSpPr>
        <p:spPr>
          <a:xfrm>
            <a:off x="473202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0" name="Rectangle 839"/>
          <p:cNvSpPr/>
          <p:nvPr/>
        </p:nvSpPr>
        <p:spPr>
          <a:xfrm>
            <a:off x="480060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1" name="Rectangle 840"/>
          <p:cNvSpPr/>
          <p:nvPr/>
        </p:nvSpPr>
        <p:spPr>
          <a:xfrm>
            <a:off x="486918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2" name="Rectangle 841"/>
          <p:cNvSpPr/>
          <p:nvPr/>
        </p:nvSpPr>
        <p:spPr>
          <a:xfrm>
            <a:off x="4937759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3" name="Rectangle 842"/>
          <p:cNvSpPr/>
          <p:nvPr/>
        </p:nvSpPr>
        <p:spPr>
          <a:xfrm>
            <a:off x="5006340" y="4050791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4" name="Rectangle 843"/>
          <p:cNvSpPr/>
          <p:nvPr/>
        </p:nvSpPr>
        <p:spPr>
          <a:xfrm>
            <a:off x="6858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5" name="Rectangle 844"/>
          <p:cNvSpPr/>
          <p:nvPr/>
        </p:nvSpPr>
        <p:spPr>
          <a:xfrm>
            <a:off x="754380" y="422452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6" name="Rectangle 845"/>
          <p:cNvSpPr/>
          <p:nvPr/>
        </p:nvSpPr>
        <p:spPr>
          <a:xfrm>
            <a:off x="8229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7" name="Rectangle 846"/>
          <p:cNvSpPr/>
          <p:nvPr/>
        </p:nvSpPr>
        <p:spPr>
          <a:xfrm>
            <a:off x="8915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8" name="Rectangle 847"/>
          <p:cNvSpPr/>
          <p:nvPr/>
        </p:nvSpPr>
        <p:spPr>
          <a:xfrm>
            <a:off x="9601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9" name="Rectangle 848"/>
          <p:cNvSpPr/>
          <p:nvPr/>
        </p:nvSpPr>
        <p:spPr>
          <a:xfrm>
            <a:off x="10287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0" name="Rectangle 849"/>
          <p:cNvSpPr/>
          <p:nvPr/>
        </p:nvSpPr>
        <p:spPr>
          <a:xfrm>
            <a:off x="10972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1" name="Rectangle 850"/>
          <p:cNvSpPr/>
          <p:nvPr/>
        </p:nvSpPr>
        <p:spPr>
          <a:xfrm>
            <a:off x="11658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2" name="Rectangle 851"/>
          <p:cNvSpPr/>
          <p:nvPr/>
        </p:nvSpPr>
        <p:spPr>
          <a:xfrm>
            <a:off x="12344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3" name="Rectangle 852"/>
          <p:cNvSpPr/>
          <p:nvPr/>
        </p:nvSpPr>
        <p:spPr>
          <a:xfrm>
            <a:off x="130301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4" name="Rectangle 853"/>
          <p:cNvSpPr/>
          <p:nvPr/>
        </p:nvSpPr>
        <p:spPr>
          <a:xfrm>
            <a:off x="13716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5" name="Rectangle 854"/>
          <p:cNvSpPr/>
          <p:nvPr/>
        </p:nvSpPr>
        <p:spPr>
          <a:xfrm>
            <a:off x="14401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6" name="Rectangle 855"/>
          <p:cNvSpPr/>
          <p:nvPr/>
        </p:nvSpPr>
        <p:spPr>
          <a:xfrm>
            <a:off x="15087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7" name="Rectangle 856"/>
          <p:cNvSpPr/>
          <p:nvPr/>
        </p:nvSpPr>
        <p:spPr>
          <a:xfrm>
            <a:off x="15773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8" name="Rectangle 857"/>
          <p:cNvSpPr/>
          <p:nvPr/>
        </p:nvSpPr>
        <p:spPr>
          <a:xfrm>
            <a:off x="16459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9" name="Rectangle 858"/>
          <p:cNvSpPr/>
          <p:nvPr/>
        </p:nvSpPr>
        <p:spPr>
          <a:xfrm>
            <a:off x="17145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0" name="Rectangle 859"/>
          <p:cNvSpPr/>
          <p:nvPr/>
        </p:nvSpPr>
        <p:spPr>
          <a:xfrm>
            <a:off x="17830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Rectangle 860"/>
          <p:cNvSpPr/>
          <p:nvPr/>
        </p:nvSpPr>
        <p:spPr>
          <a:xfrm>
            <a:off x="18516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ectangle 861"/>
          <p:cNvSpPr/>
          <p:nvPr/>
        </p:nvSpPr>
        <p:spPr>
          <a:xfrm>
            <a:off x="192023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3" name="Rectangle 862"/>
          <p:cNvSpPr/>
          <p:nvPr/>
        </p:nvSpPr>
        <p:spPr>
          <a:xfrm>
            <a:off x="198881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4" name="Rectangle 863"/>
          <p:cNvSpPr/>
          <p:nvPr/>
        </p:nvSpPr>
        <p:spPr>
          <a:xfrm>
            <a:off x="2057400" y="422452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5" name="Rectangle 864"/>
          <p:cNvSpPr/>
          <p:nvPr/>
        </p:nvSpPr>
        <p:spPr>
          <a:xfrm>
            <a:off x="21259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6" name="Rectangle 865"/>
          <p:cNvSpPr/>
          <p:nvPr/>
        </p:nvSpPr>
        <p:spPr>
          <a:xfrm>
            <a:off x="21945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7" name="Rectangle 866"/>
          <p:cNvSpPr/>
          <p:nvPr/>
        </p:nvSpPr>
        <p:spPr>
          <a:xfrm>
            <a:off x="226313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8" name="Rectangle 867"/>
          <p:cNvSpPr/>
          <p:nvPr/>
        </p:nvSpPr>
        <p:spPr>
          <a:xfrm>
            <a:off x="23317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9" name="Rectangle 868"/>
          <p:cNvSpPr/>
          <p:nvPr/>
        </p:nvSpPr>
        <p:spPr>
          <a:xfrm>
            <a:off x="24003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0" name="Rectangle 869"/>
          <p:cNvSpPr/>
          <p:nvPr/>
        </p:nvSpPr>
        <p:spPr>
          <a:xfrm>
            <a:off x="24688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1" name="Rectangle 870"/>
          <p:cNvSpPr/>
          <p:nvPr/>
        </p:nvSpPr>
        <p:spPr>
          <a:xfrm>
            <a:off x="25374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2" name="Rectangle 871"/>
          <p:cNvSpPr/>
          <p:nvPr/>
        </p:nvSpPr>
        <p:spPr>
          <a:xfrm>
            <a:off x="26060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3" name="Rectangle 872"/>
          <p:cNvSpPr/>
          <p:nvPr/>
        </p:nvSpPr>
        <p:spPr>
          <a:xfrm>
            <a:off x="26746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4" name="Rectangle 873"/>
          <p:cNvSpPr/>
          <p:nvPr/>
        </p:nvSpPr>
        <p:spPr>
          <a:xfrm>
            <a:off x="27432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5" name="Rectangle 874"/>
          <p:cNvSpPr/>
          <p:nvPr/>
        </p:nvSpPr>
        <p:spPr>
          <a:xfrm>
            <a:off x="281177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6" name="Rectangle 875"/>
          <p:cNvSpPr/>
          <p:nvPr/>
        </p:nvSpPr>
        <p:spPr>
          <a:xfrm>
            <a:off x="28803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7" name="Rectangle 876"/>
          <p:cNvSpPr/>
          <p:nvPr/>
        </p:nvSpPr>
        <p:spPr>
          <a:xfrm>
            <a:off x="29489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8" name="Rectangle 877"/>
          <p:cNvSpPr/>
          <p:nvPr/>
        </p:nvSpPr>
        <p:spPr>
          <a:xfrm>
            <a:off x="30175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9" name="Rectangle 878"/>
          <p:cNvSpPr/>
          <p:nvPr/>
        </p:nvSpPr>
        <p:spPr>
          <a:xfrm>
            <a:off x="30861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0" name="Rectangle 879"/>
          <p:cNvSpPr/>
          <p:nvPr/>
        </p:nvSpPr>
        <p:spPr>
          <a:xfrm>
            <a:off x="315467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1" name="Rectangle 880"/>
          <p:cNvSpPr/>
          <p:nvPr/>
        </p:nvSpPr>
        <p:spPr>
          <a:xfrm>
            <a:off x="32232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2" name="Rectangle 881"/>
          <p:cNvSpPr/>
          <p:nvPr/>
        </p:nvSpPr>
        <p:spPr>
          <a:xfrm>
            <a:off x="32918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3" name="Rectangle 882"/>
          <p:cNvSpPr/>
          <p:nvPr/>
        </p:nvSpPr>
        <p:spPr>
          <a:xfrm>
            <a:off x="3360420" y="422452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4" name="Rectangle 883"/>
          <p:cNvSpPr/>
          <p:nvPr/>
        </p:nvSpPr>
        <p:spPr>
          <a:xfrm>
            <a:off x="34290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5" name="Rectangle 884"/>
          <p:cNvSpPr/>
          <p:nvPr/>
        </p:nvSpPr>
        <p:spPr>
          <a:xfrm>
            <a:off x="349757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6" name="Rectangle 885"/>
          <p:cNvSpPr/>
          <p:nvPr/>
        </p:nvSpPr>
        <p:spPr>
          <a:xfrm>
            <a:off x="35661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7" name="Rectangle 886"/>
          <p:cNvSpPr/>
          <p:nvPr/>
        </p:nvSpPr>
        <p:spPr>
          <a:xfrm>
            <a:off x="36347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8" name="Rectangle 887"/>
          <p:cNvSpPr/>
          <p:nvPr/>
        </p:nvSpPr>
        <p:spPr>
          <a:xfrm>
            <a:off x="37033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9" name="Rectangle 888"/>
          <p:cNvSpPr/>
          <p:nvPr/>
        </p:nvSpPr>
        <p:spPr>
          <a:xfrm>
            <a:off x="37719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0" name="Rectangle 889"/>
          <p:cNvSpPr/>
          <p:nvPr/>
        </p:nvSpPr>
        <p:spPr>
          <a:xfrm>
            <a:off x="384047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1" name="Rectangle 890"/>
          <p:cNvSpPr/>
          <p:nvPr/>
        </p:nvSpPr>
        <p:spPr>
          <a:xfrm>
            <a:off x="39090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2" name="Rectangle 891"/>
          <p:cNvSpPr/>
          <p:nvPr/>
        </p:nvSpPr>
        <p:spPr>
          <a:xfrm>
            <a:off x="397763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3" name="Rectangle 892"/>
          <p:cNvSpPr/>
          <p:nvPr/>
        </p:nvSpPr>
        <p:spPr>
          <a:xfrm>
            <a:off x="40462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4" name="Rectangle 893"/>
          <p:cNvSpPr/>
          <p:nvPr/>
        </p:nvSpPr>
        <p:spPr>
          <a:xfrm>
            <a:off x="41148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5" name="Rectangle 894"/>
          <p:cNvSpPr/>
          <p:nvPr/>
        </p:nvSpPr>
        <p:spPr>
          <a:xfrm>
            <a:off x="418337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6" name="Rectangle 895"/>
          <p:cNvSpPr/>
          <p:nvPr/>
        </p:nvSpPr>
        <p:spPr>
          <a:xfrm>
            <a:off x="425196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7" name="Rectangle 896"/>
          <p:cNvSpPr/>
          <p:nvPr/>
        </p:nvSpPr>
        <p:spPr>
          <a:xfrm>
            <a:off x="43205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8" name="Rectangle 897"/>
          <p:cNvSpPr/>
          <p:nvPr/>
        </p:nvSpPr>
        <p:spPr>
          <a:xfrm>
            <a:off x="43891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9" name="Rectangle 898"/>
          <p:cNvSpPr/>
          <p:nvPr/>
        </p:nvSpPr>
        <p:spPr>
          <a:xfrm>
            <a:off x="44577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Rectangle 899"/>
          <p:cNvSpPr/>
          <p:nvPr/>
        </p:nvSpPr>
        <p:spPr>
          <a:xfrm>
            <a:off x="45262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Rectangle 900"/>
          <p:cNvSpPr/>
          <p:nvPr/>
        </p:nvSpPr>
        <p:spPr>
          <a:xfrm>
            <a:off x="459485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2" name="Rectangle 901"/>
          <p:cNvSpPr/>
          <p:nvPr/>
        </p:nvSpPr>
        <p:spPr>
          <a:xfrm>
            <a:off x="4663440" y="4224528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Rectangle 902"/>
          <p:cNvSpPr/>
          <p:nvPr/>
        </p:nvSpPr>
        <p:spPr>
          <a:xfrm>
            <a:off x="473202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4" name="Rectangle 903"/>
          <p:cNvSpPr/>
          <p:nvPr/>
        </p:nvSpPr>
        <p:spPr>
          <a:xfrm>
            <a:off x="480060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Rectangle 904"/>
          <p:cNvSpPr/>
          <p:nvPr/>
        </p:nvSpPr>
        <p:spPr>
          <a:xfrm>
            <a:off x="486918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6" name="Rectangle 905"/>
          <p:cNvSpPr/>
          <p:nvPr/>
        </p:nvSpPr>
        <p:spPr>
          <a:xfrm>
            <a:off x="4937759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Rectangle 906"/>
          <p:cNvSpPr/>
          <p:nvPr/>
        </p:nvSpPr>
        <p:spPr>
          <a:xfrm>
            <a:off x="5006340" y="4224528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8" name="Rectangle 907"/>
          <p:cNvSpPr/>
          <p:nvPr/>
        </p:nvSpPr>
        <p:spPr>
          <a:xfrm>
            <a:off x="6858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9" name="Rectangle 908"/>
          <p:cNvSpPr/>
          <p:nvPr/>
        </p:nvSpPr>
        <p:spPr>
          <a:xfrm>
            <a:off x="7543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0" name="Rectangle 909"/>
          <p:cNvSpPr/>
          <p:nvPr/>
        </p:nvSpPr>
        <p:spPr>
          <a:xfrm>
            <a:off x="8229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1" name="Rectangle 910"/>
          <p:cNvSpPr/>
          <p:nvPr/>
        </p:nvSpPr>
        <p:spPr>
          <a:xfrm>
            <a:off x="8915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2" name="Rectangle 911"/>
          <p:cNvSpPr/>
          <p:nvPr/>
        </p:nvSpPr>
        <p:spPr>
          <a:xfrm>
            <a:off x="960120" y="439826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3" name="Rectangle 912"/>
          <p:cNvSpPr/>
          <p:nvPr/>
        </p:nvSpPr>
        <p:spPr>
          <a:xfrm>
            <a:off x="10287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4" name="Rectangle 913"/>
          <p:cNvSpPr/>
          <p:nvPr/>
        </p:nvSpPr>
        <p:spPr>
          <a:xfrm>
            <a:off x="10972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5" name="Rectangle 914"/>
          <p:cNvSpPr/>
          <p:nvPr/>
        </p:nvSpPr>
        <p:spPr>
          <a:xfrm>
            <a:off x="11658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6" name="Rectangle 915"/>
          <p:cNvSpPr/>
          <p:nvPr/>
        </p:nvSpPr>
        <p:spPr>
          <a:xfrm>
            <a:off x="12344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7" name="Rectangle 916"/>
          <p:cNvSpPr/>
          <p:nvPr/>
        </p:nvSpPr>
        <p:spPr>
          <a:xfrm>
            <a:off x="130301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8" name="Rectangle 917"/>
          <p:cNvSpPr/>
          <p:nvPr/>
        </p:nvSpPr>
        <p:spPr>
          <a:xfrm>
            <a:off x="13716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Rectangle 918"/>
          <p:cNvSpPr/>
          <p:nvPr/>
        </p:nvSpPr>
        <p:spPr>
          <a:xfrm>
            <a:off x="14401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Rectangle 919"/>
          <p:cNvSpPr/>
          <p:nvPr/>
        </p:nvSpPr>
        <p:spPr>
          <a:xfrm>
            <a:off x="15087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Rectangle 920"/>
          <p:cNvSpPr/>
          <p:nvPr/>
        </p:nvSpPr>
        <p:spPr>
          <a:xfrm>
            <a:off x="15773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2" name="Rectangle 921"/>
          <p:cNvSpPr/>
          <p:nvPr/>
        </p:nvSpPr>
        <p:spPr>
          <a:xfrm>
            <a:off x="16459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Rectangle 922"/>
          <p:cNvSpPr/>
          <p:nvPr/>
        </p:nvSpPr>
        <p:spPr>
          <a:xfrm>
            <a:off x="17145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4" name="Rectangle 923"/>
          <p:cNvSpPr/>
          <p:nvPr/>
        </p:nvSpPr>
        <p:spPr>
          <a:xfrm>
            <a:off x="17830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5" name="Rectangle 924"/>
          <p:cNvSpPr/>
          <p:nvPr/>
        </p:nvSpPr>
        <p:spPr>
          <a:xfrm>
            <a:off x="18516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6" name="Rectangle 925"/>
          <p:cNvSpPr/>
          <p:nvPr/>
        </p:nvSpPr>
        <p:spPr>
          <a:xfrm>
            <a:off x="192023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7" name="Rectangle 926"/>
          <p:cNvSpPr/>
          <p:nvPr/>
        </p:nvSpPr>
        <p:spPr>
          <a:xfrm>
            <a:off x="198881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8" name="Rectangle 927"/>
          <p:cNvSpPr/>
          <p:nvPr/>
        </p:nvSpPr>
        <p:spPr>
          <a:xfrm>
            <a:off x="20574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9" name="Rectangle 928"/>
          <p:cNvSpPr/>
          <p:nvPr/>
        </p:nvSpPr>
        <p:spPr>
          <a:xfrm>
            <a:off x="21259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0" name="Rectangle 929"/>
          <p:cNvSpPr/>
          <p:nvPr/>
        </p:nvSpPr>
        <p:spPr>
          <a:xfrm>
            <a:off x="21945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1" name="Rectangle 930"/>
          <p:cNvSpPr/>
          <p:nvPr/>
        </p:nvSpPr>
        <p:spPr>
          <a:xfrm>
            <a:off x="2263139" y="439826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2" name="Rectangle 931"/>
          <p:cNvSpPr/>
          <p:nvPr/>
        </p:nvSpPr>
        <p:spPr>
          <a:xfrm>
            <a:off x="23317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3" name="Rectangle 932"/>
          <p:cNvSpPr/>
          <p:nvPr/>
        </p:nvSpPr>
        <p:spPr>
          <a:xfrm>
            <a:off x="24003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4" name="Rectangle 933"/>
          <p:cNvSpPr/>
          <p:nvPr/>
        </p:nvSpPr>
        <p:spPr>
          <a:xfrm>
            <a:off x="24688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5" name="Rectangle 934"/>
          <p:cNvSpPr/>
          <p:nvPr/>
        </p:nvSpPr>
        <p:spPr>
          <a:xfrm>
            <a:off x="25374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6" name="Rectangle 935"/>
          <p:cNvSpPr/>
          <p:nvPr/>
        </p:nvSpPr>
        <p:spPr>
          <a:xfrm>
            <a:off x="26060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7" name="Rectangle 936"/>
          <p:cNvSpPr/>
          <p:nvPr/>
        </p:nvSpPr>
        <p:spPr>
          <a:xfrm>
            <a:off x="26746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8" name="Rectangle 937"/>
          <p:cNvSpPr/>
          <p:nvPr/>
        </p:nvSpPr>
        <p:spPr>
          <a:xfrm>
            <a:off x="27432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Rectangle 938"/>
          <p:cNvSpPr/>
          <p:nvPr/>
        </p:nvSpPr>
        <p:spPr>
          <a:xfrm>
            <a:off x="281177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Rectangle 939"/>
          <p:cNvSpPr/>
          <p:nvPr/>
        </p:nvSpPr>
        <p:spPr>
          <a:xfrm>
            <a:off x="28803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1" name="Rectangle 940"/>
          <p:cNvSpPr/>
          <p:nvPr/>
        </p:nvSpPr>
        <p:spPr>
          <a:xfrm>
            <a:off x="29489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2" name="Rectangle 941"/>
          <p:cNvSpPr/>
          <p:nvPr/>
        </p:nvSpPr>
        <p:spPr>
          <a:xfrm>
            <a:off x="30175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3" name="Rectangle 942"/>
          <p:cNvSpPr/>
          <p:nvPr/>
        </p:nvSpPr>
        <p:spPr>
          <a:xfrm>
            <a:off x="30861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4" name="Rectangle 943"/>
          <p:cNvSpPr/>
          <p:nvPr/>
        </p:nvSpPr>
        <p:spPr>
          <a:xfrm>
            <a:off x="315467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5" name="Rectangle 944"/>
          <p:cNvSpPr/>
          <p:nvPr/>
        </p:nvSpPr>
        <p:spPr>
          <a:xfrm>
            <a:off x="32232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6" name="Rectangle 945"/>
          <p:cNvSpPr/>
          <p:nvPr/>
        </p:nvSpPr>
        <p:spPr>
          <a:xfrm>
            <a:off x="32918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7" name="Rectangle 946"/>
          <p:cNvSpPr/>
          <p:nvPr/>
        </p:nvSpPr>
        <p:spPr>
          <a:xfrm>
            <a:off x="33604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8" name="Rectangle 947"/>
          <p:cNvSpPr/>
          <p:nvPr/>
        </p:nvSpPr>
        <p:spPr>
          <a:xfrm>
            <a:off x="34290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9" name="Rectangle 948"/>
          <p:cNvSpPr/>
          <p:nvPr/>
        </p:nvSpPr>
        <p:spPr>
          <a:xfrm>
            <a:off x="349757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0" name="Rectangle 949"/>
          <p:cNvSpPr/>
          <p:nvPr/>
        </p:nvSpPr>
        <p:spPr>
          <a:xfrm>
            <a:off x="3566160" y="439826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1" name="Rectangle 950"/>
          <p:cNvSpPr/>
          <p:nvPr/>
        </p:nvSpPr>
        <p:spPr>
          <a:xfrm>
            <a:off x="36347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2" name="Rectangle 951"/>
          <p:cNvSpPr/>
          <p:nvPr/>
        </p:nvSpPr>
        <p:spPr>
          <a:xfrm>
            <a:off x="37033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3" name="Rectangle 952"/>
          <p:cNvSpPr/>
          <p:nvPr/>
        </p:nvSpPr>
        <p:spPr>
          <a:xfrm>
            <a:off x="37719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4" name="Rectangle 953"/>
          <p:cNvSpPr/>
          <p:nvPr/>
        </p:nvSpPr>
        <p:spPr>
          <a:xfrm>
            <a:off x="384047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5" name="Rectangle 954"/>
          <p:cNvSpPr/>
          <p:nvPr/>
        </p:nvSpPr>
        <p:spPr>
          <a:xfrm>
            <a:off x="39090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6" name="Rectangle 955"/>
          <p:cNvSpPr/>
          <p:nvPr/>
        </p:nvSpPr>
        <p:spPr>
          <a:xfrm>
            <a:off x="397763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7" name="Rectangle 956"/>
          <p:cNvSpPr/>
          <p:nvPr/>
        </p:nvSpPr>
        <p:spPr>
          <a:xfrm>
            <a:off x="40462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Rectangle 957"/>
          <p:cNvSpPr/>
          <p:nvPr/>
        </p:nvSpPr>
        <p:spPr>
          <a:xfrm>
            <a:off x="41148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9" name="Rectangle 958"/>
          <p:cNvSpPr/>
          <p:nvPr/>
        </p:nvSpPr>
        <p:spPr>
          <a:xfrm>
            <a:off x="418337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0" name="Rectangle 959"/>
          <p:cNvSpPr/>
          <p:nvPr/>
        </p:nvSpPr>
        <p:spPr>
          <a:xfrm>
            <a:off x="425196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1" name="Rectangle 960"/>
          <p:cNvSpPr/>
          <p:nvPr/>
        </p:nvSpPr>
        <p:spPr>
          <a:xfrm>
            <a:off x="43205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2" name="Rectangle 961"/>
          <p:cNvSpPr/>
          <p:nvPr/>
        </p:nvSpPr>
        <p:spPr>
          <a:xfrm>
            <a:off x="43891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3" name="Rectangle 962"/>
          <p:cNvSpPr/>
          <p:nvPr/>
        </p:nvSpPr>
        <p:spPr>
          <a:xfrm>
            <a:off x="44577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4" name="Rectangle 963"/>
          <p:cNvSpPr/>
          <p:nvPr/>
        </p:nvSpPr>
        <p:spPr>
          <a:xfrm>
            <a:off x="452628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5" name="Rectangle 964"/>
          <p:cNvSpPr/>
          <p:nvPr/>
        </p:nvSpPr>
        <p:spPr>
          <a:xfrm>
            <a:off x="459485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Rectangle 965"/>
          <p:cNvSpPr/>
          <p:nvPr/>
        </p:nvSpPr>
        <p:spPr>
          <a:xfrm>
            <a:off x="46634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7" name="Rectangle 966"/>
          <p:cNvSpPr/>
          <p:nvPr/>
        </p:nvSpPr>
        <p:spPr>
          <a:xfrm>
            <a:off x="473202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8" name="Rectangle 967"/>
          <p:cNvSpPr/>
          <p:nvPr/>
        </p:nvSpPr>
        <p:spPr>
          <a:xfrm>
            <a:off x="480060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9" name="Rectangle 968"/>
          <p:cNvSpPr/>
          <p:nvPr/>
        </p:nvSpPr>
        <p:spPr>
          <a:xfrm>
            <a:off x="4869180" y="4398264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0" name="Rectangle 969"/>
          <p:cNvSpPr/>
          <p:nvPr/>
        </p:nvSpPr>
        <p:spPr>
          <a:xfrm>
            <a:off x="4937759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1" name="Rectangle 970"/>
          <p:cNvSpPr/>
          <p:nvPr/>
        </p:nvSpPr>
        <p:spPr>
          <a:xfrm>
            <a:off x="5006340" y="4398264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2" name="Rectangle 971"/>
          <p:cNvSpPr/>
          <p:nvPr/>
        </p:nvSpPr>
        <p:spPr>
          <a:xfrm>
            <a:off x="6858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3" name="Rectangle 972"/>
          <p:cNvSpPr/>
          <p:nvPr/>
        </p:nvSpPr>
        <p:spPr>
          <a:xfrm>
            <a:off x="7543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Rectangle 973"/>
          <p:cNvSpPr/>
          <p:nvPr/>
        </p:nvSpPr>
        <p:spPr>
          <a:xfrm>
            <a:off x="8229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5" name="Rectangle 974"/>
          <p:cNvSpPr/>
          <p:nvPr/>
        </p:nvSpPr>
        <p:spPr>
          <a:xfrm>
            <a:off x="8915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6" name="Rectangle 975"/>
          <p:cNvSpPr/>
          <p:nvPr/>
        </p:nvSpPr>
        <p:spPr>
          <a:xfrm>
            <a:off x="9601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7" name="Rectangle 976"/>
          <p:cNvSpPr/>
          <p:nvPr/>
        </p:nvSpPr>
        <p:spPr>
          <a:xfrm>
            <a:off x="10287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8" name="Rectangle 977"/>
          <p:cNvSpPr/>
          <p:nvPr/>
        </p:nvSpPr>
        <p:spPr>
          <a:xfrm>
            <a:off x="10972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9" name="Rectangle 978"/>
          <p:cNvSpPr/>
          <p:nvPr/>
        </p:nvSpPr>
        <p:spPr>
          <a:xfrm>
            <a:off x="1165860" y="457200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Rectangle 979"/>
          <p:cNvSpPr/>
          <p:nvPr/>
        </p:nvSpPr>
        <p:spPr>
          <a:xfrm>
            <a:off x="12344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1" name="Rectangle 980"/>
          <p:cNvSpPr/>
          <p:nvPr/>
        </p:nvSpPr>
        <p:spPr>
          <a:xfrm>
            <a:off x="130301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2" name="Rectangle 981"/>
          <p:cNvSpPr/>
          <p:nvPr/>
        </p:nvSpPr>
        <p:spPr>
          <a:xfrm>
            <a:off x="13716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3" name="Rectangle 982"/>
          <p:cNvSpPr/>
          <p:nvPr/>
        </p:nvSpPr>
        <p:spPr>
          <a:xfrm>
            <a:off x="14401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4" name="Rectangle 983"/>
          <p:cNvSpPr/>
          <p:nvPr/>
        </p:nvSpPr>
        <p:spPr>
          <a:xfrm>
            <a:off x="15087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5" name="Rectangle 984"/>
          <p:cNvSpPr/>
          <p:nvPr/>
        </p:nvSpPr>
        <p:spPr>
          <a:xfrm>
            <a:off x="15773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Rectangle 985"/>
          <p:cNvSpPr/>
          <p:nvPr/>
        </p:nvSpPr>
        <p:spPr>
          <a:xfrm>
            <a:off x="16459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7" name="Rectangle 986"/>
          <p:cNvSpPr/>
          <p:nvPr/>
        </p:nvSpPr>
        <p:spPr>
          <a:xfrm>
            <a:off x="17145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8" name="Rectangle 987"/>
          <p:cNvSpPr/>
          <p:nvPr/>
        </p:nvSpPr>
        <p:spPr>
          <a:xfrm>
            <a:off x="17830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9" name="Rectangle 988"/>
          <p:cNvSpPr/>
          <p:nvPr/>
        </p:nvSpPr>
        <p:spPr>
          <a:xfrm>
            <a:off x="18516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0" name="Rectangle 989"/>
          <p:cNvSpPr/>
          <p:nvPr/>
        </p:nvSpPr>
        <p:spPr>
          <a:xfrm>
            <a:off x="192023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1" name="Rectangle 990"/>
          <p:cNvSpPr/>
          <p:nvPr/>
        </p:nvSpPr>
        <p:spPr>
          <a:xfrm>
            <a:off x="198881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2" name="Rectangle 991"/>
          <p:cNvSpPr/>
          <p:nvPr/>
        </p:nvSpPr>
        <p:spPr>
          <a:xfrm>
            <a:off x="20574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3" name="Rectangle 992"/>
          <p:cNvSpPr/>
          <p:nvPr/>
        </p:nvSpPr>
        <p:spPr>
          <a:xfrm>
            <a:off x="21259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4" name="Rectangle 993"/>
          <p:cNvSpPr/>
          <p:nvPr/>
        </p:nvSpPr>
        <p:spPr>
          <a:xfrm>
            <a:off x="21945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5" name="Rectangle 994"/>
          <p:cNvSpPr/>
          <p:nvPr/>
        </p:nvSpPr>
        <p:spPr>
          <a:xfrm>
            <a:off x="226313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6" name="Rectangle 995"/>
          <p:cNvSpPr/>
          <p:nvPr/>
        </p:nvSpPr>
        <p:spPr>
          <a:xfrm>
            <a:off x="23317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7" name="Rectangle 996"/>
          <p:cNvSpPr/>
          <p:nvPr/>
        </p:nvSpPr>
        <p:spPr>
          <a:xfrm>
            <a:off x="24003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8" name="Rectangle 997"/>
          <p:cNvSpPr/>
          <p:nvPr/>
        </p:nvSpPr>
        <p:spPr>
          <a:xfrm>
            <a:off x="2468880" y="457200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9" name="Rectangle 998"/>
          <p:cNvSpPr/>
          <p:nvPr/>
        </p:nvSpPr>
        <p:spPr>
          <a:xfrm>
            <a:off x="25374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Rectangle 999"/>
          <p:cNvSpPr/>
          <p:nvPr/>
        </p:nvSpPr>
        <p:spPr>
          <a:xfrm>
            <a:off x="26060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Rectangle 1000"/>
          <p:cNvSpPr/>
          <p:nvPr/>
        </p:nvSpPr>
        <p:spPr>
          <a:xfrm>
            <a:off x="26746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Rectangle 1001"/>
          <p:cNvSpPr/>
          <p:nvPr/>
        </p:nvSpPr>
        <p:spPr>
          <a:xfrm>
            <a:off x="27432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Rectangle 1002"/>
          <p:cNvSpPr/>
          <p:nvPr/>
        </p:nvSpPr>
        <p:spPr>
          <a:xfrm>
            <a:off x="281177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Rectangle 1003"/>
          <p:cNvSpPr/>
          <p:nvPr/>
        </p:nvSpPr>
        <p:spPr>
          <a:xfrm>
            <a:off x="28803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Rectangle 1004"/>
          <p:cNvSpPr/>
          <p:nvPr/>
        </p:nvSpPr>
        <p:spPr>
          <a:xfrm>
            <a:off x="29489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ctangle 1005"/>
          <p:cNvSpPr/>
          <p:nvPr/>
        </p:nvSpPr>
        <p:spPr>
          <a:xfrm>
            <a:off x="30175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Rectangle 1006"/>
          <p:cNvSpPr/>
          <p:nvPr/>
        </p:nvSpPr>
        <p:spPr>
          <a:xfrm>
            <a:off x="30861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ectangle 1007"/>
          <p:cNvSpPr/>
          <p:nvPr/>
        </p:nvSpPr>
        <p:spPr>
          <a:xfrm>
            <a:off x="315467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Rectangle 1008"/>
          <p:cNvSpPr/>
          <p:nvPr/>
        </p:nvSpPr>
        <p:spPr>
          <a:xfrm>
            <a:off x="32232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Rectangle 1009"/>
          <p:cNvSpPr/>
          <p:nvPr/>
        </p:nvSpPr>
        <p:spPr>
          <a:xfrm>
            <a:off x="32918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Rectangle 1010"/>
          <p:cNvSpPr/>
          <p:nvPr/>
        </p:nvSpPr>
        <p:spPr>
          <a:xfrm>
            <a:off x="33604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Rectangle 1011"/>
          <p:cNvSpPr/>
          <p:nvPr/>
        </p:nvSpPr>
        <p:spPr>
          <a:xfrm>
            <a:off x="34290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Rectangle 1012"/>
          <p:cNvSpPr/>
          <p:nvPr/>
        </p:nvSpPr>
        <p:spPr>
          <a:xfrm>
            <a:off x="349757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Rectangle 1013"/>
          <p:cNvSpPr/>
          <p:nvPr/>
        </p:nvSpPr>
        <p:spPr>
          <a:xfrm>
            <a:off x="35661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Rectangle 1014"/>
          <p:cNvSpPr/>
          <p:nvPr/>
        </p:nvSpPr>
        <p:spPr>
          <a:xfrm>
            <a:off x="36347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Rectangle 1015"/>
          <p:cNvSpPr/>
          <p:nvPr/>
        </p:nvSpPr>
        <p:spPr>
          <a:xfrm>
            <a:off x="37033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Rectangle 1016"/>
          <p:cNvSpPr/>
          <p:nvPr/>
        </p:nvSpPr>
        <p:spPr>
          <a:xfrm>
            <a:off x="3771900" y="4572000"/>
            <a:ext cx="63093" cy="156362"/>
          </a:xfrm>
          <a:prstGeom prst="rect">
            <a:avLst/>
          </a:prstGeom>
          <a:solidFill>
            <a:srgbClr val="5B9BD5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ectangle 1017"/>
          <p:cNvSpPr/>
          <p:nvPr/>
        </p:nvSpPr>
        <p:spPr>
          <a:xfrm>
            <a:off x="384047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ectangle 1018"/>
          <p:cNvSpPr/>
          <p:nvPr/>
        </p:nvSpPr>
        <p:spPr>
          <a:xfrm>
            <a:off x="39090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Rectangle 1019"/>
          <p:cNvSpPr/>
          <p:nvPr/>
        </p:nvSpPr>
        <p:spPr>
          <a:xfrm>
            <a:off x="397763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ectangle 1020"/>
          <p:cNvSpPr/>
          <p:nvPr/>
        </p:nvSpPr>
        <p:spPr>
          <a:xfrm>
            <a:off x="40462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Rectangle 1021"/>
          <p:cNvSpPr/>
          <p:nvPr/>
        </p:nvSpPr>
        <p:spPr>
          <a:xfrm>
            <a:off x="41148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ectangle 1022"/>
          <p:cNvSpPr/>
          <p:nvPr/>
        </p:nvSpPr>
        <p:spPr>
          <a:xfrm>
            <a:off x="418337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ectangle 1023"/>
          <p:cNvSpPr/>
          <p:nvPr/>
        </p:nvSpPr>
        <p:spPr>
          <a:xfrm>
            <a:off x="425196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ectangle 1024"/>
          <p:cNvSpPr/>
          <p:nvPr/>
        </p:nvSpPr>
        <p:spPr>
          <a:xfrm>
            <a:off x="43205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Rectangle 1025"/>
          <p:cNvSpPr/>
          <p:nvPr/>
        </p:nvSpPr>
        <p:spPr>
          <a:xfrm>
            <a:off x="43891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ectangle 1026"/>
          <p:cNvSpPr/>
          <p:nvPr/>
        </p:nvSpPr>
        <p:spPr>
          <a:xfrm>
            <a:off x="44577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Rectangle 1027"/>
          <p:cNvSpPr/>
          <p:nvPr/>
        </p:nvSpPr>
        <p:spPr>
          <a:xfrm>
            <a:off x="45262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Rectangle 1028"/>
          <p:cNvSpPr/>
          <p:nvPr/>
        </p:nvSpPr>
        <p:spPr>
          <a:xfrm>
            <a:off x="459485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Rectangle 1029"/>
          <p:cNvSpPr/>
          <p:nvPr/>
        </p:nvSpPr>
        <p:spPr>
          <a:xfrm>
            <a:off x="46634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Rectangle 1030"/>
          <p:cNvSpPr/>
          <p:nvPr/>
        </p:nvSpPr>
        <p:spPr>
          <a:xfrm>
            <a:off x="473202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Rectangle 1031"/>
          <p:cNvSpPr/>
          <p:nvPr/>
        </p:nvSpPr>
        <p:spPr>
          <a:xfrm>
            <a:off x="480060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Rectangle 1032"/>
          <p:cNvSpPr/>
          <p:nvPr/>
        </p:nvSpPr>
        <p:spPr>
          <a:xfrm>
            <a:off x="486918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Rectangle 1033"/>
          <p:cNvSpPr/>
          <p:nvPr/>
        </p:nvSpPr>
        <p:spPr>
          <a:xfrm>
            <a:off x="4937759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Rectangle 1034"/>
          <p:cNvSpPr/>
          <p:nvPr/>
        </p:nvSpPr>
        <p:spPr>
          <a:xfrm>
            <a:off x="5006340" y="4572000"/>
            <a:ext cx="63093" cy="156362"/>
          </a:xfrm>
          <a:prstGeom prst="rect">
            <a:avLst/>
          </a:prstGeom>
          <a:solidFill>
            <a:srgbClr val="F2F2F2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685800" y="4892040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Times New Roman MT"/>
              </a:rPr>
              <a:t>Expert Activation Matrix: 16 layers × 64 experts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5410200" y="2008903"/>
            <a:ext cx="3246120" cy="3566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Each EAM records activation counts for (layer, expert) across a sample.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For N tokens, total EAM activations = N × 16 × 8.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80 training EAMs were built and compared with cosine similarity.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The prototype retrieves similar historical samples and aggregates their future expert activity.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This is a prototype/future predictor direction, not the final adaptive policy.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C04F5-F061-D347-B5D5-66231EBC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76403-AE2F-73C5-5D10-D6E35B5E266E}"/>
              </a:ext>
            </a:extLst>
          </p:cNvPr>
          <p:cNvSpPr txBox="1"/>
          <p:nvPr/>
        </p:nvSpPr>
        <p:spPr>
          <a:xfrm>
            <a:off x="2864509" y="426932"/>
            <a:ext cx="413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Introduction to Future work</a:t>
            </a:r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1" y="1019611"/>
            <a:ext cx="8778240" cy="789802"/>
          </a:xfrm>
        </p:spPr>
        <p:txBody>
          <a:bodyPr/>
          <a:lstStyle/>
          <a:p>
            <a:r>
              <a:rPr lang="en-US" sz="3413" dirty="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/>
        </p:nvGraphicFramePr>
        <p:xfrm>
          <a:off x="152998" y="1635164"/>
          <a:ext cx="9380668" cy="5106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891AB-6220-3623-3E12-3B07CBB89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67" y="9256"/>
            <a:ext cx="1190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0520" y="1206137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6973" y="1206137"/>
            <a:ext cx="8791787" cy="1085766"/>
            <a:chOff x="0" y="0"/>
            <a:chExt cx="11722382" cy="14476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22382" cy="1447689"/>
            </a:xfrm>
            <a:custGeom>
              <a:avLst/>
              <a:gdLst/>
              <a:ahLst/>
              <a:cxnLst/>
              <a:rect l="l" t="t" r="r" b="b"/>
              <a:pathLst>
                <a:path w="11722382" h="1447689">
                  <a:moveTo>
                    <a:pt x="0" y="0"/>
                  </a:moveTo>
                  <a:lnTo>
                    <a:pt x="11722382" y="0"/>
                  </a:lnTo>
                  <a:lnTo>
                    <a:pt x="11722382" y="1447689"/>
                  </a:lnTo>
                  <a:lnTo>
                    <a:pt x="0" y="14476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1722382" cy="1514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endParaRPr sz="2000" dirty="0">
                <a:solidFill>
                  <a:srgbClr val="000000"/>
                </a:solidFill>
                <a:latin typeface="Times New Roman MT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01550" y="416772"/>
            <a:ext cx="244145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Arial MT Pro"/>
              </a:rPr>
              <a:t>20</a:t>
            </a:r>
            <a:endParaRPr sz="1300" dirty="0">
              <a:solidFill>
                <a:srgbClr val="000000"/>
              </a:solidFill>
              <a:latin typeface="Arial MT P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7818120" cy="4343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Established a routing-trace → prediction → cache-evaluation pipeline using real </a:t>
            </a:r>
            <a:r>
              <a:rPr dirty="0" err="1"/>
              <a:t>OLMoE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Collected and validated 100 samples each from WikiText-103, GSM8K and MBPP and created leakage-safe 80/20 splits.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Demonstrated temporal structure and implemented History, Transition and Selective predictors.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Connected predictors to a layer-aware GPU/CPU/Disk cache model and quantified the precision–coverage–overhead trade-off.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Times New Roman MT"/>
              </a:defRPr>
            </a:pPr>
            <a:r>
              <a:rPr dirty="0"/>
              <a:t>• Next: rerun full evaluations on expanded traces, evaluate a </a:t>
            </a:r>
            <a:r>
              <a:rPr dirty="0" err="1"/>
              <a:t>MoE</a:t>
            </a:r>
            <a:r>
              <a:rPr dirty="0"/>
              <a:t>-Infinity-style baseline, refine EAM prediction, develop an adaptive policy, and integrate with live </a:t>
            </a:r>
            <a:r>
              <a:rPr dirty="0" err="1"/>
              <a:t>OLMoE</a:t>
            </a:r>
            <a:r>
              <a:rPr dirty="0"/>
              <a:t> for real end-to-end measurements.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290747"/>
            <a:ext cx="7543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000000"/>
                </a:solidFill>
                <a:latin typeface="Times New Roman MT"/>
              </a:rPr>
              <a:t>Conclusion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>
            <a:extLst>
              <a:ext uri="{FF2B5EF4-FFF2-40B4-BE49-F238E27FC236}">
                <a16:creationId xmlns:a16="http://schemas.microsoft.com/office/drawing/2014/main" id="{6179DCDC-9EDB-6A0F-34A2-5BC5DCE7E23A}"/>
              </a:ext>
            </a:extLst>
          </p:cNvPr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4CE3677C-4CD7-6E88-D8AB-57A513AACF0C}"/>
                </a:ext>
              </a:extLst>
            </p:cNvPr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475CA42-2A80-17AA-AA5E-B553FAB2229A}"/>
                </a:ext>
              </a:extLst>
            </p:cNvPr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68081" y="406400"/>
            <a:ext cx="216559" cy="308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210" name="References"/>
          <p:cNvSpPr txBox="1">
            <a:spLocks noGrp="1"/>
          </p:cNvSpPr>
          <p:nvPr>
            <p:ph type="title"/>
          </p:nvPr>
        </p:nvSpPr>
        <p:spPr>
          <a:xfrm>
            <a:off x="1042706" y="1105408"/>
            <a:ext cx="7315200" cy="86190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413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69E78-3C83-13C3-8700-6481BB45ACF0}"/>
              </a:ext>
            </a:extLst>
          </p:cNvPr>
          <p:cNvSpPr txBox="1"/>
          <p:nvPr/>
        </p:nvSpPr>
        <p:spPr>
          <a:xfrm>
            <a:off x="579928" y="1967316"/>
            <a:ext cx="8730428" cy="4277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GB" sz="181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1813" b="1" dirty="0"/>
              <a:t>Eliseev, A. and D. Mazur.</a:t>
            </a:r>
            <a:r>
              <a:rPr lang="en-IN" sz="1813" dirty="0"/>
              <a:t> “Fast Inference of Mixture-of-Experts Language Models with Offloading”, </a:t>
            </a:r>
            <a:r>
              <a:rPr lang="en-IN" sz="1813" i="1" dirty="0" err="1"/>
              <a:t>arXiv</a:t>
            </a:r>
            <a:r>
              <a:rPr lang="en-IN" sz="1813" i="1" dirty="0"/>
              <a:t> preprint arXiv:2312.17238</a:t>
            </a:r>
            <a:r>
              <a:rPr lang="en-IN" sz="1813" dirty="0"/>
              <a:t>, 2023.</a:t>
            </a:r>
          </a:p>
          <a:p>
            <a:pPr algn="just"/>
            <a:endParaRPr lang="en-GB" sz="1813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813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1813" b="1" dirty="0"/>
              <a:t>Xue, L., Y. Fu, Z. Lu, L. Mai, and M. Marina.</a:t>
            </a:r>
            <a:r>
              <a:rPr lang="en-IN" sz="1813" dirty="0"/>
              <a:t> “</a:t>
            </a:r>
            <a:r>
              <a:rPr lang="en-IN" sz="1813" dirty="0" err="1"/>
              <a:t>MoE</a:t>
            </a:r>
            <a:r>
              <a:rPr lang="en-IN" sz="1813" dirty="0"/>
              <a:t>-Infinity: Offloading-Efficient </a:t>
            </a:r>
            <a:r>
              <a:rPr lang="en-IN" sz="1813" dirty="0" err="1"/>
              <a:t>MoE</a:t>
            </a:r>
            <a:r>
              <a:rPr lang="en-IN" sz="1813" dirty="0"/>
              <a:t> Model Serving”, </a:t>
            </a:r>
            <a:r>
              <a:rPr lang="en-IN" sz="1813" i="1" dirty="0" err="1"/>
              <a:t>arXiv</a:t>
            </a:r>
            <a:r>
              <a:rPr lang="en-IN" sz="1813" i="1" dirty="0"/>
              <a:t> preprint arXiv:2401.14361</a:t>
            </a:r>
            <a:r>
              <a:rPr lang="en-IN" sz="1813" dirty="0"/>
              <a:t>, 2024.</a:t>
            </a:r>
            <a:endParaRPr lang="en-GB" sz="1813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813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1813" b="1" dirty="0" err="1"/>
              <a:t>Muennighoff</a:t>
            </a:r>
            <a:r>
              <a:rPr lang="en-IN" sz="1813" b="1" dirty="0"/>
              <a:t>, N., L. </a:t>
            </a:r>
            <a:r>
              <a:rPr lang="en-IN" sz="1813" b="1" dirty="0" err="1"/>
              <a:t>Soldaini</a:t>
            </a:r>
            <a:r>
              <a:rPr lang="en-IN" sz="1813" b="1" dirty="0"/>
              <a:t>, D. Groeneveld, K. Lo, J. Morrison, S. Min, W. Shi, P. Walsh, O. Tafjord, N. Lambert, Y. Gu, S. Arora, A. </a:t>
            </a:r>
            <a:r>
              <a:rPr lang="en-IN" sz="1813" b="1" dirty="0" err="1"/>
              <a:t>Bhagia</a:t>
            </a:r>
            <a:r>
              <a:rPr lang="en-IN" sz="1813" b="1" dirty="0"/>
              <a:t>, D. Schwenk, D. Wadden, A. Wettig, B. Hui, T. Dettmers, D. Kiela, A. Farhadi, N. A. Smith, P. W. Koh, A. Singh, and H. </a:t>
            </a:r>
            <a:r>
              <a:rPr lang="en-IN" sz="1813" b="1" dirty="0" err="1"/>
              <a:t>Hajishirzi</a:t>
            </a:r>
            <a:r>
              <a:rPr lang="en-IN" sz="1813" b="1" dirty="0"/>
              <a:t>.</a:t>
            </a:r>
            <a:r>
              <a:rPr lang="en-IN" sz="1813" dirty="0"/>
              <a:t> “</a:t>
            </a:r>
            <a:r>
              <a:rPr lang="en-IN" sz="1813" dirty="0" err="1"/>
              <a:t>OLMoE</a:t>
            </a:r>
            <a:r>
              <a:rPr lang="en-IN" sz="1813" dirty="0"/>
              <a:t>: Open Mixture-of-Experts Language Models”, </a:t>
            </a:r>
            <a:r>
              <a:rPr lang="en-IN" sz="1813" i="1" dirty="0"/>
              <a:t>International Conference on Learning Representations (ICLR)</a:t>
            </a:r>
            <a:r>
              <a:rPr lang="en-IN" sz="1813" dirty="0"/>
              <a:t>, 2025.</a:t>
            </a:r>
          </a:p>
          <a:p>
            <a:pPr algn="just"/>
            <a:endParaRPr lang="en-IN" sz="18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1813" b="1" dirty="0" err="1"/>
              <a:t>Kamahori</a:t>
            </a:r>
            <a:r>
              <a:rPr lang="en-IN" sz="1813" b="1" dirty="0"/>
              <a:t>, K., T. Tang, Y. Gu, K. Zhu, and B. </a:t>
            </a:r>
            <a:r>
              <a:rPr lang="en-IN" sz="1813" b="1" dirty="0" err="1"/>
              <a:t>Kasikci</a:t>
            </a:r>
            <a:r>
              <a:rPr lang="en-IN" sz="1813" b="1" dirty="0"/>
              <a:t>.</a:t>
            </a:r>
            <a:r>
              <a:rPr lang="en-IN" sz="1813" dirty="0"/>
              <a:t> “Fiddler: CPU-GPU Orchestration for Fast Inference of Mixture-of-Experts Models”, </a:t>
            </a:r>
            <a:r>
              <a:rPr lang="en-IN" sz="1813" i="1" dirty="0"/>
              <a:t>International Conference on Learning Representations (ICLR)</a:t>
            </a:r>
            <a:r>
              <a:rPr lang="en-IN" sz="1813" dirty="0"/>
              <a:t>, 2025. </a:t>
            </a:r>
            <a:endParaRPr lang="en-IN" sz="18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01073C88-4060-3DC3-220F-217B54BED191}"/>
              </a:ext>
            </a:extLst>
          </p:cNvPr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4" name="Freeform 6" descr="image.png">
              <a:extLst>
                <a:ext uri="{FF2B5EF4-FFF2-40B4-BE49-F238E27FC236}">
                  <a16:creationId xmlns:a16="http://schemas.microsoft.com/office/drawing/2014/main" id="{C49820B4-DE59-CE31-C82C-974095383FC9}"/>
                </a:ext>
              </a:extLst>
            </p:cNvPr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CD9B8-7B10-4B99-257F-FDF732DC7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5360" y="1652693"/>
            <a:ext cx="7802880" cy="49460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18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Song, Y., Z. Mi, H. Xie, and H. Chen.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181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PowerInfer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Large Language Model Serving with a Consumer-grade GPU”, </a:t>
            </a:r>
            <a:r>
              <a:rPr lang="en-IN" sz="181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ACM SIGOPS 30th Symposium on Operating Systems Principles (SOSP)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590–606, 2024</a:t>
            </a:r>
          </a:p>
          <a:p>
            <a:pPr marL="0" indent="0">
              <a:buNone/>
            </a:pPr>
            <a:endParaRPr lang="en-IN" sz="18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18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Xue, F., Z. Zheng, Y. Fu, J. Ni, Z. Zheng, W. Zhou, and Y. You.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181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OpenMoE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Early Effort on Open Mixture-of-Experts Language Models”, </a:t>
            </a:r>
            <a:r>
              <a:rPr lang="en-IN" sz="181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41st International Conference on Machine Learning (ICML)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235, pp. 55625–55655, 2024. </a:t>
            </a:r>
          </a:p>
          <a:p>
            <a:pPr marL="0" indent="0">
              <a:buNone/>
            </a:pPr>
            <a:endParaRPr lang="en-IN" sz="18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IN" sz="181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Dai, D., C. Deng, C. Zhao, R. X. Xu, H. Gao, D. Chen, J. Li, W. Zeng, X. Yu, Y. Wu, Z. Xie, Y. K. Li, P. Huang, F. Luo, C. Ruan, Z. Sui, and W. Liang.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181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DeepSeekMoE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Towards Ultimate Expert Specialization in Mixture-of-Experts Language Models”, </a:t>
            </a:r>
            <a:r>
              <a:rPr lang="en-IN" sz="1813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62nd Annual Meeting of the Association for Computational Linguistics (ACL)</a:t>
            </a:r>
            <a:r>
              <a:rPr lang="en-IN" sz="18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1, pp. 1280–1297, 2024. </a:t>
            </a:r>
          </a:p>
          <a:p>
            <a:pPr marL="0" indent="0">
              <a:buNone/>
            </a:pPr>
            <a:endParaRPr lang="en-IN" sz="18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BBAEF-2A4B-DC2E-5D7C-C6DB2007897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4226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F400D-8B37-8105-B575-15190B557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5360" y="1472070"/>
            <a:ext cx="7802880" cy="51146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Tang, P., J. Liu, X. Hou, Y. Pu, J. Wang, P.-A. Heng, C. Li, and M. Guo.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“HOBBIT: A Mixed Precision Expert Offloading System for Fast </a:t>
            </a:r>
            <a:r>
              <a:rPr lang="en-IN" sz="19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MoE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Inference”, </a:t>
            </a:r>
            <a:r>
              <a:rPr lang="en-IN" sz="192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arXiv:2411.01433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indent="0">
              <a:buNone/>
            </a:pPr>
            <a:endParaRPr lang="en-IN" sz="1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Borzunov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D.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Baranchuk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Dettmers, M.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Riabinin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Belkada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Chumachenko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Samygin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C. Raffel.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“Petals: Collaborative Inference and Fine-tuning of Large Models”, </a:t>
            </a:r>
            <a:r>
              <a:rPr lang="en-IN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61st Annual Meeting of the Association for Computational Linguistics (ACL), Vol. 3: System Demonstrations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558–568, 2023. </a:t>
            </a:r>
          </a:p>
          <a:p>
            <a:pPr marL="0" indent="0">
              <a:buNone/>
            </a:pPr>
            <a:endParaRPr lang="en-IN" sz="1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Song, L., Z. Pang, W. Wang, Z. Wang, X. Wang, H. Chen, W. Song, Y. Jin, D. Meng, and R. Hou.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“The Early Bird Catches the Leak: Unveiling Timing Side Channels in LLM Serving Systems”, </a:t>
            </a:r>
            <a:r>
              <a:rPr lang="en-IN" sz="192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arXiv:2409.20002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indent="0">
              <a:buNone/>
            </a:pPr>
            <a:endParaRPr lang="en-IN" sz="19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Dunsche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M.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Maehren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Erinola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Merget, N.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Bissantz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n-IN" sz="19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Somorovsky</a:t>
            </a:r>
            <a:r>
              <a:rPr lang="en-IN" sz="19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Schwenk.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“With Great Power Come Great Side Channels: Statistical Timing Side-Channel Analyses with Bounded Type-1 Errors”, </a:t>
            </a:r>
            <a:r>
              <a:rPr lang="en-IN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33rd USENIX Security Symposium (USENIX Security 24)</a:t>
            </a:r>
            <a:r>
              <a:rPr lang="en-IN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6687–6704, 2024.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70812-7351-EB31-C672-C65E04713D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59363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1160" y="1203960"/>
            <a:ext cx="9052560" cy="5557520"/>
            <a:chOff x="0" y="0"/>
            <a:chExt cx="12070080" cy="7410027"/>
          </a:xfrm>
        </p:grpSpPr>
        <p:sp>
          <p:nvSpPr>
            <p:cNvPr id="3" name="Freeform 3"/>
            <p:cNvSpPr/>
            <p:nvPr/>
          </p:nvSpPr>
          <p:spPr>
            <a:xfrm>
              <a:off x="20320" y="20320"/>
              <a:ext cx="12029440" cy="7369302"/>
            </a:xfrm>
            <a:custGeom>
              <a:avLst/>
              <a:gdLst/>
              <a:ahLst/>
              <a:cxnLst/>
              <a:rect l="l" t="t" r="r" b="b"/>
              <a:pathLst>
                <a:path w="12029440" h="7369302">
                  <a:moveTo>
                    <a:pt x="0" y="1228217"/>
                  </a:moveTo>
                  <a:cubicBezTo>
                    <a:pt x="0" y="549910"/>
                    <a:pt x="551053" y="0"/>
                    <a:pt x="1230884" y="0"/>
                  </a:cubicBezTo>
                  <a:lnTo>
                    <a:pt x="10798556" y="0"/>
                  </a:lnTo>
                  <a:cubicBezTo>
                    <a:pt x="11478387" y="0"/>
                    <a:pt x="12029440" y="549910"/>
                    <a:pt x="12029440" y="1228217"/>
                  </a:cubicBezTo>
                  <a:lnTo>
                    <a:pt x="12029440" y="6141085"/>
                  </a:lnTo>
                  <a:cubicBezTo>
                    <a:pt x="12029440" y="6819392"/>
                    <a:pt x="11478387" y="7369302"/>
                    <a:pt x="10798556" y="7369302"/>
                  </a:cubicBezTo>
                  <a:lnTo>
                    <a:pt x="1230884" y="7369302"/>
                  </a:lnTo>
                  <a:cubicBezTo>
                    <a:pt x="551053" y="7369302"/>
                    <a:pt x="0" y="6819392"/>
                    <a:pt x="0" y="614108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070080" cy="7410069"/>
            </a:xfrm>
            <a:custGeom>
              <a:avLst/>
              <a:gdLst/>
              <a:ahLst/>
              <a:cxnLst/>
              <a:rect l="l" t="t" r="r" b="b"/>
              <a:pathLst>
                <a:path w="12070080" h="7410069">
                  <a:moveTo>
                    <a:pt x="0" y="1248537"/>
                  </a:moveTo>
                  <a:cubicBezTo>
                    <a:pt x="0" y="558927"/>
                    <a:pt x="560197" y="0"/>
                    <a:pt x="1251204" y="0"/>
                  </a:cubicBezTo>
                  <a:lnTo>
                    <a:pt x="10818876" y="0"/>
                  </a:lnTo>
                  <a:lnTo>
                    <a:pt x="10818876" y="20320"/>
                  </a:lnTo>
                  <a:lnTo>
                    <a:pt x="10818876" y="0"/>
                  </a:lnTo>
                  <a:cubicBezTo>
                    <a:pt x="11509883" y="0"/>
                    <a:pt x="12070080" y="558927"/>
                    <a:pt x="12070080" y="1248537"/>
                  </a:cubicBezTo>
                  <a:lnTo>
                    <a:pt x="12049760" y="1248537"/>
                  </a:lnTo>
                  <a:lnTo>
                    <a:pt x="12070080" y="1248537"/>
                  </a:lnTo>
                  <a:lnTo>
                    <a:pt x="12070080" y="6161405"/>
                  </a:lnTo>
                  <a:lnTo>
                    <a:pt x="12049760" y="6161405"/>
                  </a:lnTo>
                  <a:lnTo>
                    <a:pt x="12070080" y="6161405"/>
                  </a:lnTo>
                  <a:cubicBezTo>
                    <a:pt x="12070080" y="6851015"/>
                    <a:pt x="11509883" y="7409942"/>
                    <a:pt x="10818876" y="7409942"/>
                  </a:cubicBezTo>
                  <a:lnTo>
                    <a:pt x="10818876" y="7389622"/>
                  </a:lnTo>
                  <a:lnTo>
                    <a:pt x="10818876" y="7409942"/>
                  </a:lnTo>
                  <a:lnTo>
                    <a:pt x="1251204" y="7409942"/>
                  </a:lnTo>
                  <a:lnTo>
                    <a:pt x="1251204" y="7389622"/>
                  </a:lnTo>
                  <a:lnTo>
                    <a:pt x="1251204" y="7409942"/>
                  </a:lnTo>
                  <a:cubicBezTo>
                    <a:pt x="560197" y="7410069"/>
                    <a:pt x="0" y="6851015"/>
                    <a:pt x="0" y="6161405"/>
                  </a:cubicBezTo>
                  <a:lnTo>
                    <a:pt x="0" y="1248537"/>
                  </a:lnTo>
                  <a:lnTo>
                    <a:pt x="20320" y="1248537"/>
                  </a:lnTo>
                  <a:lnTo>
                    <a:pt x="0" y="1248537"/>
                  </a:lnTo>
                  <a:moveTo>
                    <a:pt x="40640" y="1248537"/>
                  </a:moveTo>
                  <a:lnTo>
                    <a:pt x="40640" y="6161405"/>
                  </a:lnTo>
                  <a:lnTo>
                    <a:pt x="20320" y="6161405"/>
                  </a:lnTo>
                  <a:lnTo>
                    <a:pt x="40640" y="6161405"/>
                  </a:lnTo>
                  <a:cubicBezTo>
                    <a:pt x="40640" y="6828536"/>
                    <a:pt x="582549" y="7369302"/>
                    <a:pt x="1251204" y="7369302"/>
                  </a:cubicBezTo>
                  <a:lnTo>
                    <a:pt x="10818876" y="7369302"/>
                  </a:lnTo>
                  <a:cubicBezTo>
                    <a:pt x="11487531" y="7369302"/>
                    <a:pt x="12029440" y="6828409"/>
                    <a:pt x="12029440" y="6161405"/>
                  </a:cubicBezTo>
                  <a:lnTo>
                    <a:pt x="12029440" y="1248537"/>
                  </a:lnTo>
                  <a:cubicBezTo>
                    <a:pt x="12029440" y="581406"/>
                    <a:pt x="11487531" y="40640"/>
                    <a:pt x="10818876" y="40640"/>
                  </a:cubicBezTo>
                  <a:lnTo>
                    <a:pt x="1251204" y="40640"/>
                  </a:lnTo>
                  <a:lnTo>
                    <a:pt x="1251204" y="20320"/>
                  </a:lnTo>
                  <a:lnTo>
                    <a:pt x="1251204" y="40640"/>
                  </a:lnTo>
                  <a:cubicBezTo>
                    <a:pt x="582549" y="40640"/>
                    <a:pt x="40640" y="581533"/>
                    <a:pt x="40640" y="1248537"/>
                  </a:cubicBezTo>
                  <a:close/>
                </a:path>
              </a:pathLst>
            </a:custGeom>
            <a:solidFill>
              <a:srgbClr val="6699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6773" y="33867"/>
            <a:ext cx="1192107" cy="1192107"/>
            <a:chOff x="0" y="0"/>
            <a:chExt cx="1589476" cy="1589476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589532" cy="1589532"/>
            </a:xfrm>
            <a:custGeom>
              <a:avLst/>
              <a:gdLst/>
              <a:ahLst/>
              <a:cxnLst/>
              <a:rect l="l" t="t" r="r" b="b"/>
              <a:pathLst>
                <a:path w="1589532" h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011680" y="2743200"/>
            <a:ext cx="4846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Arial MT Pro"/>
              </a:rPr>
              <a:t>THANK YOU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3100</Words>
  <Application>Microsoft Office PowerPoint</Application>
  <PresentationFormat>Custom</PresentationFormat>
  <Paragraphs>318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Arial MT Pro</vt:lpstr>
      <vt:lpstr>Times New Roman</vt:lpstr>
      <vt:lpstr>Calibri</vt:lpstr>
      <vt:lpstr>Times New Roman MT</vt:lpstr>
      <vt:lpstr>Office Theme</vt:lpstr>
      <vt:lpstr>Predictive Expert Offloading for Mixture-of-Experts LLMs   23AID498 Project Phase 1  – Review 2 Presentation  Team ID: 23UG099   Panel No.: 17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  <vt:lpstr>PowerPoint Presentation</vt:lpstr>
      <vt:lpstr>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 Presentation</dc:title>
  <dc:creator>Ananthu p</dc:creator>
  <cp:lastModifiedBy>Tejas Raja Bhatt-[BL.EN.U4AID23052]</cp:lastModifiedBy>
  <cp:revision>20</cp:revision>
  <dcterms:created xsi:type="dcterms:W3CDTF">2006-08-16T00:00:00Z</dcterms:created>
  <dcterms:modified xsi:type="dcterms:W3CDTF">2026-10-03T10:39:12Z</dcterms:modified>
  <dc:identifier>DAG17_mizrw</dc:identifier>
</cp:coreProperties>
</file>